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ugi" charset="1" panose="00000000000000000000"/>
      <p:regular r:id="rId13"/>
    </p:embeddedFont>
    <p:embeddedFont>
      <p:font typeface="Evolventa" charset="1" panose="020B0502020202020204"/>
      <p:regular r:id="rId14"/>
    </p:embeddedFont>
    <p:embeddedFont>
      <p:font typeface="Evolventa Bold" charset="1" panose="020B0702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.png" Type="http://schemas.openxmlformats.org/officeDocument/2006/relationships/image"/><Relationship Id="rId9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1837" y="289333"/>
            <a:ext cx="12112509" cy="8707633"/>
          </a:xfrm>
          <a:custGeom>
            <a:avLst/>
            <a:gdLst/>
            <a:ahLst/>
            <a:cxnLst/>
            <a:rect r="r" b="b" t="t" l="l"/>
            <a:pathLst>
              <a:path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4239" y="3044158"/>
            <a:ext cx="11780400" cy="298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MOODLAMP</a:t>
            </a:r>
          </a:p>
          <a:p>
            <a:pPr algn="l">
              <a:lnSpc>
                <a:spcPts val="5071"/>
              </a:lnSpc>
            </a:pPr>
            <a:r>
              <a:rPr lang="en-US" sz="4610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 </a:t>
            </a:r>
            <a:r>
              <a:rPr lang="en-US" sz="4610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УМНЫЙ СВЕТИЛЬНИК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677070"/>
            <a:ext cx="5973663" cy="18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Бабашинский Глеб Алекссандрович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Кумагерчик Николай Иванович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ФИТ 3-1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542318">
            <a:off x="12698331" y="-34925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81297" y="2053235"/>
            <a:ext cx="15506682" cy="7894758"/>
            <a:chOff x="0" y="0"/>
            <a:chExt cx="3892804" cy="19819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92804" cy="1981962"/>
            </a:xfrm>
            <a:custGeom>
              <a:avLst/>
              <a:gdLst/>
              <a:ahLst/>
              <a:cxnLst/>
              <a:rect r="r" b="b" t="t" l="l"/>
              <a:pathLst>
                <a:path h="1981962" w="3892804">
                  <a:moveTo>
                    <a:pt x="3892804" y="0"/>
                  </a:moveTo>
                  <a:lnTo>
                    <a:pt x="3892804" y="1981962"/>
                  </a:lnTo>
                  <a:lnTo>
                    <a:pt x="0" y="19819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84706"/>
              </a:srgbClr>
            </a:solidFill>
            <a:ln w="38100" cap="sq">
              <a:gradFill>
                <a:gsLst>
                  <a:gs pos="0">
                    <a:srgbClr val="000000">
                      <a:alpha val="85000"/>
                    </a:srgbClr>
                  </a:gs>
                  <a:gs pos="100000">
                    <a:srgbClr val="737373">
                      <a:alpha val="85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92804" cy="202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147874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8105" y="297061"/>
            <a:ext cx="16973067" cy="222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РЕШЕНИЕ ПРОБЛЕМЫ, ОПИСАНИЕ И ОБЛАСТЬ ПРИМЕНЕНИЯ ПРОЕКТА «MOODLAMP»</a:t>
            </a:r>
          </a:p>
          <a:p>
            <a:pPr algn="l">
              <a:lnSpc>
                <a:spcPts val="55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97333" y="2461588"/>
            <a:ext cx="13674611" cy="244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   Современный человек часто не осознаёт собственные эмоции, живёт в стрессе и эмоциональной перегрузке. Существующие трекеры настроения требуют времени, внимания и быстро забываются.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  Не хватает простого, ненавязчивого способа осознать и визуализировать своё эмоциональное состояние.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97333" y="5154644"/>
            <a:ext cx="13674611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   «</a:t>
            </a: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MoodLamp» — это умный настольный светильник, отражающий эмоциональное состояние пользователя через цветовую визуализацию.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6520" y="7005734"/>
            <a:ext cx="9893050" cy="244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Домашние рабочие места и зоны отдыха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Пространства для медитации и релаксации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Психологические центры и кабинеты терапевтов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Смарт-интерьеры и IoT-устройства для умного дома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BF9F1"/>
                </a:solidFill>
                <a:latin typeface="Evolventa"/>
                <a:ea typeface="Evolventa"/>
                <a:cs typeface="Evolventa"/>
                <a:sym typeface="Evolventa"/>
              </a:rPr>
              <a:t>Программы по развитию эмоционального интеллекта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661522" y="9108276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13249" y="6381464"/>
            <a:ext cx="5202468" cy="66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b="true" sz="3299" spc="379">
                <a:solidFill>
                  <a:srgbClr val="FBF9F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Область приенения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626729">
            <a:off x="-8130685" y="18179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4530" y="2216189"/>
            <a:ext cx="10709681" cy="53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Источник данных: пользовательский ввод — короткий текст или голосовая заметка.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Анализ: локальные или защищённые облачные модели NLP и голосовой аналитики определяют эмоции и режим настроения.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Приватность: обработка и хранение по выбору пользователя, шифрование, минимизация данных.</a:t>
            </a:r>
          </a:p>
          <a:p>
            <a:pPr algn="just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Визуализация: MoodLamp принимает режим и воспроизводит уникальный динамический световой паттерн.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3071946" y="1352689"/>
            <a:ext cx="6896095" cy="7581622"/>
            <a:chOff x="0" y="0"/>
            <a:chExt cx="812800" cy="8935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93599"/>
            </a:xfrm>
            <a:custGeom>
              <a:avLst/>
              <a:gdLst/>
              <a:ahLst/>
              <a:cxnLst/>
              <a:rect r="r" b="b" t="t" l="l"/>
              <a:pathLst>
                <a:path h="893599" w="812800">
                  <a:moveTo>
                    <a:pt x="406400" y="0"/>
                  </a:moveTo>
                  <a:lnTo>
                    <a:pt x="812800" y="446799"/>
                  </a:lnTo>
                  <a:lnTo>
                    <a:pt x="406400" y="893599"/>
                  </a:lnTo>
                  <a:lnTo>
                    <a:pt x="0" y="446799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"/>
              <a:stretch>
                <a:fillRect l="0" t="-39326" r="-3268" b="-34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20375" y="413206"/>
            <a:ext cx="11078603" cy="153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ТЕХНИЧЕСКОЕ РЕШЕНИЕ И ПРЕИМУЩЕСТВА ПРОЕКТА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5343" y="7386359"/>
            <a:ext cx="10498868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Автоматически подстраивается под ваше настроение. 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Работает на основе реальных данных. 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Уникальность: это "эмоциональный интеллект" для вашего дома, а не просто лампа.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435729">
            <a:off x="-1467093" y="-3491229"/>
            <a:ext cx="7516636" cy="8060736"/>
          </a:xfrm>
          <a:custGeom>
            <a:avLst/>
            <a:gdLst/>
            <a:ahLst/>
            <a:cxnLst/>
            <a:rect r="r" b="b" t="t" l="l"/>
            <a:pathLst>
              <a:path h="8060736" w="7516636">
                <a:moveTo>
                  <a:pt x="0" y="0"/>
                </a:moveTo>
                <a:lnTo>
                  <a:pt x="7516636" y="0"/>
                </a:lnTo>
                <a:lnTo>
                  <a:pt x="7516636" y="8060736"/>
                </a:lnTo>
                <a:lnTo>
                  <a:pt x="0" y="806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2217" y="1318522"/>
            <a:ext cx="1054740" cy="108329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16299" y="4771069"/>
            <a:ext cx="1054606" cy="108249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43791" y="8160332"/>
            <a:ext cx="1054606" cy="108249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7544444" y="419673"/>
            <a:ext cx="10484142" cy="2880995"/>
            <a:chOff x="0" y="0"/>
            <a:chExt cx="13978856" cy="384132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7020369" cy="61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9E8F57"/>
                  </a:solidFill>
                  <a:latin typeface="Gugi"/>
                  <a:ea typeface="Gugi"/>
                  <a:cs typeface="Gugi"/>
                  <a:sym typeface="Gugi"/>
                </a:rPr>
                <a:t>Существующие аналоги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86858"/>
              <a:ext cx="13978856" cy="3154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Moodmetric Ring — кольцо, измеряющее уровень стресса по пульсу и проводимости кожи.</a:t>
              </a:r>
            </a:p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Philips Hue / Nanoleaf — «умные» светильники с управлением цветом, но без анализа эмоций.</a:t>
              </a:r>
            </a:p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Daylio / Wysa / Youper — приложения для ведения эмоциональных дневников без физической визуализации.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57517" y="5936981"/>
            <a:ext cx="5416189" cy="264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5802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АНАЛОГИ И КОНКУРЕНТЫ</a:t>
            </a:r>
          </a:p>
          <a:p>
            <a:pPr algn="l">
              <a:lnSpc>
                <a:spcPts val="692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7480698" y="3509728"/>
            <a:ext cx="10484142" cy="3605175"/>
            <a:chOff x="0" y="0"/>
            <a:chExt cx="13978856" cy="48069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14300"/>
              <a:ext cx="10216348" cy="61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9E8F57"/>
                  </a:solidFill>
                  <a:latin typeface="Gugi"/>
                  <a:ea typeface="Gugi"/>
                  <a:cs typeface="Gugi"/>
                  <a:sym typeface="Gugi"/>
                </a:rPr>
                <a:t>Конкурентные преимущества «MoodLamp»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11032"/>
              <a:ext cx="13978856" cy="4195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Материализация эмоций — внутренние переживания получают физическое отражение через цвет и свет.</a:t>
              </a:r>
            </a:p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Интеграция ИИ-анализа текста и голоса — определение настроения по реальным отзывам пользователя, а не по датчикам.</a:t>
              </a:r>
            </a:p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Простое и естественное взаимодействие — достаточно коротко поделиться впечатлением о дне текстом или голосом.</a:t>
              </a:r>
            </a:p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Локальный анализ и защита данных — эмоции остаются личными; вся обработка выполняется с соблюдением конфиденциальности.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08190" y="7324453"/>
            <a:ext cx="10356649" cy="2754252"/>
            <a:chOff x="0" y="0"/>
            <a:chExt cx="13808866" cy="367233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7110105" cy="61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9E8F57"/>
                  </a:solidFill>
                  <a:latin typeface="Gugi"/>
                  <a:ea typeface="Gugi"/>
                  <a:cs typeface="Gugi"/>
                  <a:sym typeface="Gugi"/>
                </a:rPr>
                <a:t>Востребованность продукта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17868"/>
              <a:ext cx="13808866" cy="3154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Рост интереса к темам ментального здоровья и осознанности.</a:t>
              </a:r>
            </a:p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 Активное развитие рынка умного дома и персонализированных устройств.</a:t>
              </a:r>
            </a:p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Потребность в ненавязчивых способах саморефлексии.</a:t>
              </a:r>
            </a:p>
            <a:p>
              <a:pPr algn="just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E5E1DA"/>
                  </a:solidFill>
                  <a:latin typeface="Evolventa"/>
                  <a:ea typeface="Evolventa"/>
                  <a:cs typeface="Evolventa"/>
                  <a:sym typeface="Evolventa"/>
                </a:rPr>
                <a:t>Подходит широкому кругу пользователей — от студентов до офисных работников и психологов.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844491" y="-3015084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4011079" y="-275965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07688" y="1415502"/>
            <a:ext cx="1749984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Рынок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5858" y="3486347"/>
            <a:ext cx="7673643" cy="531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   Продукт «MoodLamp» относится к рынку умных устройств (IoT) и технологий заботы о ментальном здоровье (mental health tech).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   Мировой рынок решений для эмоционального благополучия стремительно растёт: пользователи всё чаще выбирают продукты, помогающие снижать уровень стресса и повышать осознанность.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   Дополнительно, устройство органично вписывается в тренд смарт-интерьеров, где техника не только функциональна, но и влияет на атмосферу пространства.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50840" y="320797"/>
            <a:ext cx="7786321" cy="153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РЫНОК И ПОТРЕБИТЕЛЬ</a:t>
            </a:r>
          </a:p>
          <a:p>
            <a:pPr algn="l">
              <a:lnSpc>
                <a:spcPts val="55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341038" y="1415502"/>
            <a:ext cx="3875847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Сегмент рынка</a:t>
            </a:r>
          </a:p>
        </p:txBody>
      </p:sp>
      <p:sp>
        <p:nvSpPr>
          <p:cNvPr name="AutoShape 8" id="8"/>
          <p:cNvSpPr/>
          <p:nvPr/>
        </p:nvSpPr>
        <p:spPr>
          <a:xfrm>
            <a:off x="8557626" y="2180677"/>
            <a:ext cx="0" cy="725125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22710" y="324290"/>
            <a:ext cx="829180" cy="87249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8792085" y="2610047"/>
            <a:ext cx="8973754" cy="750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Consumer IoT (B2C) — индивидуальные пользователи, покупающие устройство для дома или офиса.</a:t>
            </a:r>
          </a:p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Well-being / Mindfulness Tech — решения, направленные на эмоциональное равновесие и самоанализ.</a:t>
            </a:r>
          </a:p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Smart Home Decor — дизайнерские гаджеты, объединяющие эстетику, освещение и интеллектуальные функции.</a:t>
            </a:r>
          </a:p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Психология и self-care — устройства, помогающие отслеживать эмоциональное состояние и улучшать самочувствие.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   Таким образом, «MoodLamp» находится на стыке трёх быстрорастущих направлений: технологий осознанности, умных домов и персональных гаджетов.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71414" y="1920068"/>
            <a:ext cx="13745171" cy="10034901"/>
          </a:xfrm>
          <a:custGeom>
            <a:avLst/>
            <a:gdLst/>
            <a:ahLst/>
            <a:cxnLst/>
            <a:rect r="r" b="b" t="t" l="l"/>
            <a:pathLst>
              <a:path h="10034901" w="13745171">
                <a:moveTo>
                  <a:pt x="0" y="0"/>
                </a:moveTo>
                <a:lnTo>
                  <a:pt x="13745172" y="0"/>
                </a:lnTo>
                <a:lnTo>
                  <a:pt x="13745172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t="0" r="-52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1790" y="2456061"/>
            <a:ext cx="6823913" cy="839660"/>
            <a:chOff x="0" y="0"/>
            <a:chExt cx="9098550" cy="111954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098550" cy="1119546"/>
              <a:chOff x="0" y="0"/>
              <a:chExt cx="1797245" cy="22114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97245" cy="221145"/>
              </a:xfrm>
              <a:custGeom>
                <a:avLst/>
                <a:gdLst/>
                <a:ahLst/>
                <a:cxnLst/>
                <a:rect r="r" b="b" t="t" l="l"/>
                <a:pathLst>
                  <a:path h="221145" w="1797245">
                    <a:moveTo>
                      <a:pt x="68072" y="0"/>
                    </a:moveTo>
                    <a:lnTo>
                      <a:pt x="1729173" y="0"/>
                    </a:lnTo>
                    <a:cubicBezTo>
                      <a:pt x="1766768" y="0"/>
                      <a:pt x="1797245" y="30477"/>
                      <a:pt x="1797245" y="68072"/>
                    </a:cubicBezTo>
                    <a:lnTo>
                      <a:pt x="1797245" y="153073"/>
                    </a:lnTo>
                    <a:cubicBezTo>
                      <a:pt x="1797245" y="190668"/>
                      <a:pt x="1766768" y="221145"/>
                      <a:pt x="1729173" y="221145"/>
                    </a:cubicBezTo>
                    <a:lnTo>
                      <a:pt x="68072" y="221145"/>
                    </a:lnTo>
                    <a:cubicBezTo>
                      <a:pt x="30477" y="221145"/>
                      <a:pt x="0" y="190668"/>
                      <a:pt x="0" y="153073"/>
                    </a:cubicBezTo>
                    <a:lnTo>
                      <a:pt x="0" y="68072"/>
                    </a:lnTo>
                    <a:cubicBezTo>
                      <a:pt x="0" y="30477"/>
                      <a:pt x="30477" y="0"/>
                      <a:pt x="6807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FBF9F1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797245" cy="259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8159265" y="252670"/>
              <a:ext cx="609600" cy="614207"/>
            </a:xfrm>
            <a:custGeom>
              <a:avLst/>
              <a:gdLst/>
              <a:ahLst/>
              <a:cxnLst/>
              <a:rect r="r" b="b" t="t" l="l"/>
              <a:pathLst>
                <a:path h="614207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14207"/>
                  </a:lnTo>
                  <a:lnTo>
                    <a:pt x="0" y="614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29685" y="195707"/>
              <a:ext cx="8134380" cy="61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BF9F1"/>
                  </a:solidFill>
                  <a:latin typeface="Gugi"/>
                  <a:ea typeface="Gugi"/>
                  <a:cs typeface="Gugi"/>
                  <a:sym typeface="Gugi"/>
                </a:rPr>
                <a:t>КЛЮЧЕВАЯ ТЕХНИЧЕСКАЯ ЗАДАЧА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534446"/>
            <a:ext cx="7542773" cy="4287208"/>
            <a:chOff x="0" y="0"/>
            <a:chExt cx="10057031" cy="571627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57031" cy="5716277"/>
              <a:chOff x="0" y="0"/>
              <a:chExt cx="1986574" cy="112914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86574" cy="1129141"/>
              </a:xfrm>
              <a:custGeom>
                <a:avLst/>
                <a:gdLst/>
                <a:ahLst/>
                <a:cxnLst/>
                <a:rect r="r" b="b" t="t" l="l"/>
                <a:pathLst>
                  <a:path h="1129141" w="1986574">
                    <a:moveTo>
                      <a:pt x="35924" y="0"/>
                    </a:moveTo>
                    <a:lnTo>
                      <a:pt x="1950650" y="0"/>
                    </a:lnTo>
                    <a:cubicBezTo>
                      <a:pt x="1960177" y="0"/>
                      <a:pt x="1969315" y="3785"/>
                      <a:pt x="1976052" y="10522"/>
                    </a:cubicBezTo>
                    <a:cubicBezTo>
                      <a:pt x="1982789" y="17259"/>
                      <a:pt x="1986574" y="26396"/>
                      <a:pt x="1986574" y="35924"/>
                    </a:cubicBezTo>
                    <a:lnTo>
                      <a:pt x="1986574" y="1093217"/>
                    </a:lnTo>
                    <a:cubicBezTo>
                      <a:pt x="1986574" y="1102745"/>
                      <a:pt x="1982789" y="1111882"/>
                      <a:pt x="1976052" y="1118619"/>
                    </a:cubicBezTo>
                    <a:cubicBezTo>
                      <a:pt x="1969315" y="1125356"/>
                      <a:pt x="1960177" y="1129141"/>
                      <a:pt x="1950650" y="1129141"/>
                    </a:cubicBezTo>
                    <a:lnTo>
                      <a:pt x="35924" y="1129141"/>
                    </a:lnTo>
                    <a:cubicBezTo>
                      <a:pt x="26396" y="1129141"/>
                      <a:pt x="17259" y="1125356"/>
                      <a:pt x="10522" y="1118619"/>
                    </a:cubicBezTo>
                    <a:cubicBezTo>
                      <a:pt x="3785" y="1111882"/>
                      <a:pt x="0" y="1102745"/>
                      <a:pt x="0" y="1093217"/>
                    </a:cubicBezTo>
                    <a:lnTo>
                      <a:pt x="0" y="35924"/>
                    </a:lnTo>
                    <a:cubicBezTo>
                      <a:pt x="0" y="26396"/>
                      <a:pt x="3785" y="17259"/>
                      <a:pt x="10522" y="10522"/>
                    </a:cubicBezTo>
                    <a:cubicBezTo>
                      <a:pt x="17259" y="3785"/>
                      <a:pt x="26396" y="0"/>
                      <a:pt x="35924" y="0"/>
                    </a:cubicBezTo>
                    <a:close/>
                  </a:path>
                </a:pathLst>
              </a:custGeom>
              <a:solidFill>
                <a:srgbClr val="FBF9F1">
                  <a:alpha val="84706"/>
                </a:srgbClr>
              </a:solidFill>
              <a:ln w="38100" cap="rnd">
                <a:solidFill>
                  <a:srgbClr val="FBF9F1">
                    <a:alpha val="84706"/>
                  </a:srgbClr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986574" cy="11672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62951" y="147747"/>
              <a:ext cx="9331128" cy="5296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   Ключевая</a:t>
              </a:r>
              <a:r>
                <a:rPr lang="en-US" sz="249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 техническая задача: Создать точный алгоритм, который в реальном времени преобразует данные предоставленные пользователем в динамические световые сцены. 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   Затраты на реализацию: Основные затраты — зарплата команды (60%), разработка и тестирование железных прототипов (25%), ПО и патенты (15%). 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4490" y="199218"/>
            <a:ext cx="10413879" cy="153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ПЛАН РЕАЛИЗАЦИИ ПРОЕКТА</a:t>
            </a:r>
          </a:p>
          <a:p>
            <a:pPr algn="ctr">
              <a:lnSpc>
                <a:spcPts val="550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486702" y="1480530"/>
            <a:ext cx="8609669" cy="3219348"/>
            <a:chOff x="0" y="0"/>
            <a:chExt cx="11479558" cy="429246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479558" cy="1119546"/>
              <a:chOff x="0" y="0"/>
              <a:chExt cx="2267567" cy="22114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267567" cy="221145"/>
              </a:xfrm>
              <a:custGeom>
                <a:avLst/>
                <a:gdLst/>
                <a:ahLst/>
                <a:cxnLst/>
                <a:rect r="r" b="b" t="t" l="l"/>
                <a:pathLst>
                  <a:path h="221145" w="2267567">
                    <a:moveTo>
                      <a:pt x="53953" y="0"/>
                    </a:moveTo>
                    <a:lnTo>
                      <a:pt x="2213614" y="0"/>
                    </a:lnTo>
                    <a:cubicBezTo>
                      <a:pt x="2243412" y="0"/>
                      <a:pt x="2267567" y="24155"/>
                      <a:pt x="2267567" y="53953"/>
                    </a:cubicBezTo>
                    <a:lnTo>
                      <a:pt x="2267567" y="167192"/>
                    </a:lnTo>
                    <a:cubicBezTo>
                      <a:pt x="2267567" y="196990"/>
                      <a:pt x="2243412" y="221145"/>
                      <a:pt x="2213614" y="221145"/>
                    </a:cubicBezTo>
                    <a:lnTo>
                      <a:pt x="53953" y="221145"/>
                    </a:lnTo>
                    <a:cubicBezTo>
                      <a:pt x="24155" y="221145"/>
                      <a:pt x="0" y="196990"/>
                      <a:pt x="0" y="167192"/>
                    </a:cubicBezTo>
                    <a:lnTo>
                      <a:pt x="0" y="53953"/>
                    </a:lnTo>
                    <a:cubicBezTo>
                      <a:pt x="0" y="24155"/>
                      <a:pt x="24155" y="0"/>
                      <a:pt x="5395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FFD944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267567" cy="259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705481" y="172688"/>
              <a:ext cx="10137082" cy="61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D944"/>
                  </a:solidFill>
                  <a:latin typeface="Gugi"/>
                  <a:ea typeface="Gugi"/>
                  <a:cs typeface="Gugi"/>
                  <a:sym typeface="Gugi"/>
                </a:rPr>
                <a:t>ПЛАНЫ ПО ФОРМИРОВАНИЮ КОМАНДЫ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10483800" y="231955"/>
              <a:ext cx="639566" cy="609600"/>
            </a:xfrm>
            <a:custGeom>
              <a:avLst/>
              <a:gdLst/>
              <a:ahLst/>
              <a:cxnLst/>
              <a:rect r="r" b="b" t="t" l="l"/>
              <a:pathLst>
                <a:path h="609600" w="639566">
                  <a:moveTo>
                    <a:pt x="0" y="0"/>
                  </a:moveTo>
                  <a:lnTo>
                    <a:pt x="639567" y="0"/>
                  </a:lnTo>
                  <a:lnTo>
                    <a:pt x="639567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34" r="0" b="-3734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705759" y="1476388"/>
              <a:ext cx="9778041" cy="2816075"/>
              <a:chOff x="0" y="0"/>
              <a:chExt cx="1931465" cy="55626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31465" cy="556262"/>
              </a:xfrm>
              <a:custGeom>
                <a:avLst/>
                <a:gdLst/>
                <a:ahLst/>
                <a:cxnLst/>
                <a:rect r="r" b="b" t="t" l="l"/>
                <a:pathLst>
                  <a:path h="556262" w="1931465">
                    <a:moveTo>
                      <a:pt x="36949" y="0"/>
                    </a:moveTo>
                    <a:lnTo>
                      <a:pt x="1894516" y="0"/>
                    </a:lnTo>
                    <a:cubicBezTo>
                      <a:pt x="1904315" y="0"/>
                      <a:pt x="1913713" y="3893"/>
                      <a:pt x="1920643" y="10822"/>
                    </a:cubicBezTo>
                    <a:cubicBezTo>
                      <a:pt x="1927572" y="17751"/>
                      <a:pt x="1931465" y="27150"/>
                      <a:pt x="1931465" y="36949"/>
                    </a:cubicBezTo>
                    <a:lnTo>
                      <a:pt x="1931465" y="519313"/>
                    </a:lnTo>
                    <a:cubicBezTo>
                      <a:pt x="1931465" y="539719"/>
                      <a:pt x="1914922" y="556262"/>
                      <a:pt x="1894516" y="556262"/>
                    </a:cubicBezTo>
                    <a:lnTo>
                      <a:pt x="36949" y="556262"/>
                    </a:lnTo>
                    <a:cubicBezTo>
                      <a:pt x="16543" y="556262"/>
                      <a:pt x="0" y="539719"/>
                      <a:pt x="0" y="519313"/>
                    </a:cubicBezTo>
                    <a:lnTo>
                      <a:pt x="0" y="36949"/>
                    </a:lnTo>
                    <a:cubicBezTo>
                      <a:pt x="0" y="16543"/>
                      <a:pt x="16543" y="0"/>
                      <a:pt x="36949" y="0"/>
                    </a:cubicBezTo>
                    <a:close/>
                  </a:path>
                </a:pathLst>
              </a:custGeom>
              <a:solidFill>
                <a:srgbClr val="FFD944">
                  <a:alpha val="84706"/>
                </a:srgbClr>
              </a:solidFill>
              <a:ln w="38100" cap="rnd">
                <a:solidFill>
                  <a:srgbClr val="FFD944">
                    <a:alpha val="84706"/>
                  </a:srgbClr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931465" cy="5943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046153" y="1634534"/>
              <a:ext cx="8392646" cy="2375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1. Tech Lead (full-stack), 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2. Data Scientist, 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3. Дизайнер. 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74059" y="6260227"/>
            <a:ext cx="7256976" cy="2714867"/>
            <a:chOff x="0" y="0"/>
            <a:chExt cx="1907339" cy="7135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7339" cy="713544"/>
            </a:xfrm>
            <a:custGeom>
              <a:avLst/>
              <a:gdLst/>
              <a:ahLst/>
              <a:cxnLst/>
              <a:rect r="r" b="b" t="t" l="l"/>
              <a:pathLst>
                <a:path h="713544" w="1907339">
                  <a:moveTo>
                    <a:pt x="37339" y="0"/>
                  </a:moveTo>
                  <a:lnTo>
                    <a:pt x="1870000" y="0"/>
                  </a:lnTo>
                  <a:cubicBezTo>
                    <a:pt x="1890622" y="0"/>
                    <a:pt x="1907339" y="16717"/>
                    <a:pt x="1907339" y="37339"/>
                  </a:cubicBezTo>
                  <a:lnTo>
                    <a:pt x="1907339" y="676205"/>
                  </a:lnTo>
                  <a:cubicBezTo>
                    <a:pt x="1907339" y="686108"/>
                    <a:pt x="1903405" y="695605"/>
                    <a:pt x="1896403" y="702608"/>
                  </a:cubicBezTo>
                  <a:cubicBezTo>
                    <a:pt x="1889400" y="709610"/>
                    <a:pt x="1879903" y="713544"/>
                    <a:pt x="1870000" y="713544"/>
                  </a:cubicBezTo>
                  <a:lnTo>
                    <a:pt x="37339" y="713544"/>
                  </a:lnTo>
                  <a:cubicBezTo>
                    <a:pt x="27436" y="713544"/>
                    <a:pt x="17939" y="709610"/>
                    <a:pt x="10936" y="702608"/>
                  </a:cubicBezTo>
                  <a:cubicBezTo>
                    <a:pt x="3934" y="695605"/>
                    <a:pt x="0" y="686108"/>
                    <a:pt x="0" y="676205"/>
                  </a:cubicBezTo>
                  <a:lnTo>
                    <a:pt x="0" y="37339"/>
                  </a:lnTo>
                  <a:cubicBezTo>
                    <a:pt x="0" y="27436"/>
                    <a:pt x="3934" y="17939"/>
                    <a:pt x="10936" y="10936"/>
                  </a:cubicBezTo>
                  <a:cubicBezTo>
                    <a:pt x="17939" y="3934"/>
                    <a:pt x="27436" y="0"/>
                    <a:pt x="37339" y="0"/>
                  </a:cubicBezTo>
                  <a:close/>
                </a:path>
              </a:pathLst>
            </a:custGeom>
            <a:solidFill>
              <a:srgbClr val="FBF9F1">
                <a:alpha val="84706"/>
              </a:srgbClr>
            </a:solidFill>
            <a:ln w="38100" cap="rnd">
              <a:solidFill>
                <a:srgbClr val="FBF9F1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07339" cy="751644"/>
            </a:xfrm>
            <a:prstGeom prst="rect">
              <a:avLst/>
            </a:prstGeom>
          </p:spPr>
          <p:txBody>
            <a:bodyPr anchor="ctr" rtlCol="false" tIns="50906" lIns="50906" bIns="50906" rIns="509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074059" y="6366874"/>
            <a:ext cx="6649389" cy="239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5966" indent="-237983" lvl="1">
              <a:lnSpc>
                <a:spcPts val="3086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Прямые продажи устройства.</a:t>
            </a:r>
          </a:p>
          <a:p>
            <a:pPr algn="just" marL="475966" indent="-237983" lvl="1">
              <a:lnSpc>
                <a:spcPts val="3086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Подписка на персональные "световые терапии" и углубленную аналитику в приложении</a:t>
            </a:r>
          </a:p>
          <a:p>
            <a:pPr algn="just" marL="475966" indent="-237983" lvl="1">
              <a:lnSpc>
                <a:spcPts val="3086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B2B: лицензия технологии для производителей умного дома.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86702" y="5078538"/>
            <a:ext cx="8609669" cy="841405"/>
            <a:chOff x="0" y="0"/>
            <a:chExt cx="2262865" cy="2211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62865" cy="221145"/>
            </a:xfrm>
            <a:custGeom>
              <a:avLst/>
              <a:gdLst/>
              <a:ahLst/>
              <a:cxnLst/>
              <a:rect r="r" b="b" t="t" l="l"/>
              <a:pathLst>
                <a:path h="221145" w="2262865">
                  <a:moveTo>
                    <a:pt x="53953" y="0"/>
                  </a:moveTo>
                  <a:lnTo>
                    <a:pt x="2208912" y="0"/>
                  </a:lnTo>
                  <a:cubicBezTo>
                    <a:pt x="2223221" y="0"/>
                    <a:pt x="2236944" y="5684"/>
                    <a:pt x="2247062" y="15802"/>
                  </a:cubicBezTo>
                  <a:cubicBezTo>
                    <a:pt x="2257180" y="25920"/>
                    <a:pt x="2262865" y="39644"/>
                    <a:pt x="2262865" y="53953"/>
                  </a:cubicBezTo>
                  <a:lnTo>
                    <a:pt x="2262865" y="167192"/>
                  </a:lnTo>
                  <a:cubicBezTo>
                    <a:pt x="2262865" y="196990"/>
                    <a:pt x="2238709" y="221145"/>
                    <a:pt x="2208912" y="221145"/>
                  </a:cubicBezTo>
                  <a:lnTo>
                    <a:pt x="53953" y="221145"/>
                  </a:lnTo>
                  <a:cubicBezTo>
                    <a:pt x="24155" y="221145"/>
                    <a:pt x="0" y="196990"/>
                    <a:pt x="0" y="167192"/>
                  </a:cubicBezTo>
                  <a:lnTo>
                    <a:pt x="0" y="53953"/>
                  </a:lnTo>
                  <a:cubicBezTo>
                    <a:pt x="0" y="24155"/>
                    <a:pt x="24155" y="0"/>
                    <a:pt x="53953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62865" cy="259245"/>
            </a:xfrm>
            <a:prstGeom prst="rect">
              <a:avLst/>
            </a:prstGeom>
          </p:spPr>
          <p:txBody>
            <a:bodyPr anchor="ctr" rtlCol="false" tIns="50906" lIns="50906" bIns="50906" rIns="509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894152" y="5182029"/>
            <a:ext cx="7676126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ПЛАНИРУЕМЫЙ СПОСОБ ПОЛУЧЕНИЯ ДОХОДА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7457554" y="5232437"/>
            <a:ext cx="440399" cy="461612"/>
          </a:xfrm>
          <a:custGeom>
            <a:avLst/>
            <a:gdLst/>
            <a:ahLst/>
            <a:cxnLst/>
            <a:rect r="r" b="b" t="t" l="l"/>
            <a:pathLst>
              <a:path h="461612" w="440399">
                <a:moveTo>
                  <a:pt x="0" y="0"/>
                </a:moveTo>
                <a:lnTo>
                  <a:pt x="440399" y="0"/>
                </a:lnTo>
                <a:lnTo>
                  <a:pt x="440399" y="461612"/>
                </a:lnTo>
                <a:lnTo>
                  <a:pt x="0" y="46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15" t="0" r="-2015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870" y="8561676"/>
            <a:ext cx="600075" cy="600075"/>
          </a:xfrm>
          <a:custGeom>
            <a:avLst/>
            <a:gdLst/>
            <a:ahLst/>
            <a:cxnLst/>
            <a:rect r="r" b="b" t="t" l="l"/>
            <a:pathLst>
              <a:path h="600075" w="600075">
                <a:moveTo>
                  <a:pt x="0" y="0"/>
                </a:moveTo>
                <a:lnTo>
                  <a:pt x="600075" y="0"/>
                </a:lnTo>
                <a:lnTo>
                  <a:pt x="60007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870" y="5955182"/>
            <a:ext cx="600075" cy="600075"/>
          </a:xfrm>
          <a:custGeom>
            <a:avLst/>
            <a:gdLst/>
            <a:ahLst/>
            <a:cxnLst/>
            <a:rect r="r" b="b" t="t" l="l"/>
            <a:pathLst>
              <a:path h="600075" w="600075">
                <a:moveTo>
                  <a:pt x="0" y="0"/>
                </a:moveTo>
                <a:lnTo>
                  <a:pt x="600075" y="0"/>
                </a:lnTo>
                <a:lnTo>
                  <a:pt x="60007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5870" y="7038311"/>
            <a:ext cx="600075" cy="600075"/>
          </a:xfrm>
          <a:custGeom>
            <a:avLst/>
            <a:gdLst/>
            <a:ahLst/>
            <a:cxnLst/>
            <a:rect r="r" b="b" t="t" l="l"/>
            <a:pathLst>
              <a:path h="600075" w="600075">
                <a:moveTo>
                  <a:pt x="0" y="0"/>
                </a:moveTo>
                <a:lnTo>
                  <a:pt x="600075" y="0"/>
                </a:lnTo>
                <a:lnTo>
                  <a:pt x="60007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100837">
            <a:off x="10401622" y="1244035"/>
            <a:ext cx="8310061" cy="8781453"/>
          </a:xfrm>
          <a:custGeom>
            <a:avLst/>
            <a:gdLst/>
            <a:ahLst/>
            <a:cxnLst/>
            <a:rect r="r" b="b" t="t" l="l"/>
            <a:pathLst>
              <a:path h="8781453" w="8310061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8"/>
            <a:stretch>
              <a:fillRect l="0" t="0" r="-381" b="-1869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506023" y="3011577"/>
            <a:ext cx="5310093" cy="5246370"/>
            <a:chOff x="0" y="0"/>
            <a:chExt cx="4572000" cy="45171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6554" y="-2690"/>
              <a:ext cx="4639471" cy="4549489"/>
            </a:xfrm>
            <a:custGeom>
              <a:avLst/>
              <a:gdLst/>
              <a:ahLst/>
              <a:cxnLst/>
              <a:rect r="r" b="b" t="t" l="l"/>
              <a:pathLst>
                <a:path h="4549489" w="4639471">
                  <a:moveTo>
                    <a:pt x="2642461" y="4307731"/>
                  </a:moveTo>
                  <a:cubicBezTo>
                    <a:pt x="2937643" y="4136404"/>
                    <a:pt x="3174467" y="3866873"/>
                    <a:pt x="3302943" y="3520703"/>
                  </a:cubicBezTo>
                  <a:cubicBezTo>
                    <a:pt x="3367367" y="3347118"/>
                    <a:pt x="3462613" y="3172924"/>
                    <a:pt x="3623369" y="3081058"/>
                  </a:cubicBezTo>
                  <a:cubicBezTo>
                    <a:pt x="3747343" y="3010214"/>
                    <a:pt x="3895227" y="2996898"/>
                    <a:pt x="4029388" y="2948020"/>
                  </a:cubicBezTo>
                  <a:cubicBezTo>
                    <a:pt x="4411618" y="2808768"/>
                    <a:pt x="4639471" y="2366335"/>
                    <a:pt x="4578884" y="1964073"/>
                  </a:cubicBezTo>
                  <a:cubicBezTo>
                    <a:pt x="4518297" y="1561809"/>
                    <a:pt x="4204130" y="1222063"/>
                    <a:pt x="3823417" y="1078711"/>
                  </a:cubicBezTo>
                  <a:cubicBezTo>
                    <a:pt x="3609703" y="998242"/>
                    <a:pt x="3395764" y="1015829"/>
                    <a:pt x="3183757" y="930958"/>
                  </a:cubicBezTo>
                  <a:cubicBezTo>
                    <a:pt x="2896850" y="816103"/>
                    <a:pt x="2646820" y="557580"/>
                    <a:pt x="2402676" y="368105"/>
                  </a:cubicBezTo>
                  <a:cubicBezTo>
                    <a:pt x="2158532" y="178629"/>
                    <a:pt x="1877749" y="5911"/>
                    <a:pt x="1568716" y="3231"/>
                  </a:cubicBezTo>
                  <a:cubicBezTo>
                    <a:pt x="1196035" y="0"/>
                    <a:pt x="839628" y="279246"/>
                    <a:pt x="753607" y="641873"/>
                  </a:cubicBezTo>
                  <a:cubicBezTo>
                    <a:pt x="714329" y="807457"/>
                    <a:pt x="726735" y="980722"/>
                    <a:pt x="704584" y="1149453"/>
                  </a:cubicBezTo>
                  <a:cubicBezTo>
                    <a:pt x="619399" y="1798292"/>
                    <a:pt x="38111" y="2317174"/>
                    <a:pt x="17162" y="2971245"/>
                  </a:cubicBezTo>
                  <a:cubicBezTo>
                    <a:pt x="0" y="3507080"/>
                    <a:pt x="385323" y="3994953"/>
                    <a:pt x="863032" y="4238292"/>
                  </a:cubicBezTo>
                  <a:cubicBezTo>
                    <a:pt x="1111989" y="4365108"/>
                    <a:pt x="1371700" y="4475224"/>
                    <a:pt x="1651555" y="4507960"/>
                  </a:cubicBezTo>
                  <a:cubicBezTo>
                    <a:pt x="2006569" y="4549489"/>
                    <a:pt x="2352643" y="4475944"/>
                    <a:pt x="2642461" y="4307731"/>
                  </a:cubicBezTo>
                  <a:close/>
                </a:path>
              </a:pathLst>
            </a:custGeom>
            <a:blipFill>
              <a:blip r:embed="rId9"/>
              <a:stretch>
                <a:fillRect l="-2" t="0" r="-2" b="-3494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2000" cy="4517135"/>
            </a:xfrm>
            <a:custGeom>
              <a:avLst/>
              <a:gdLst/>
              <a:ahLst/>
              <a:cxnLst/>
              <a:rect r="r" b="b" t="t" l="l"/>
              <a:pathLst>
                <a:path h="4517135" w="4572000">
                  <a:moveTo>
                    <a:pt x="4572000" y="4517135"/>
                  </a:moveTo>
                  <a:lnTo>
                    <a:pt x="0" y="4517135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4517135"/>
                  </a:lnTo>
                  <a:close/>
                </a:path>
              </a:pathLst>
            </a:custGeom>
            <a:blipFill>
              <a:blip r:embed="rId10"/>
              <a:stretch>
                <a:fillRect l="-25" t="0" r="-2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21855" y="8576599"/>
            <a:ext cx="3572146" cy="45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ФИТ 3-1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1855" y="5770080"/>
            <a:ext cx="4365297" cy="85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hleb@gmail.com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kolya@gmail.com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855" y="6853209"/>
            <a:ext cx="4316991" cy="85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+375 (29) 511-99-88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+375 (29) 711-88-99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5870" y="1042430"/>
            <a:ext cx="11411477" cy="241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THANK YOU</a:t>
            </a:r>
            <a:r>
              <a:rPr lang="en-US" sz="14508">
                <a:solidFill>
                  <a:srgbClr val="FBF9F1"/>
                </a:solidFill>
                <a:latin typeface="Gugi"/>
                <a:ea typeface="Gugi"/>
                <a:cs typeface="Gugi"/>
                <a:sym typeface="Gugi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5870" y="3614250"/>
            <a:ext cx="7347822" cy="120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Кумагерчик Николай Иванович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5E1DA"/>
                </a:solidFill>
                <a:latin typeface="Evolventa"/>
                <a:ea typeface="Evolventa"/>
                <a:cs typeface="Evolventa"/>
                <a:sym typeface="Evolventa"/>
              </a:rPr>
              <a:t>Бабашинский Глеб Александрович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DAG32pdl03Q</dc:identifier>
  <dcterms:modified xsi:type="dcterms:W3CDTF">2011-08-01T06:04:30Z</dcterms:modified>
  <cp:revision>1</cp:revision>
  <dc:title>Black Elegant and Modern Startup Pitch Deck Presentation</dc:title>
</cp:coreProperties>
</file>