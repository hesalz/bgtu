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/>
              <a:t>ISO/IEC/IEEE 12207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99035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868680" y="2475892"/>
            <a:ext cx="10698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4000" dirty="0" err="1"/>
              <a:t>Стандарт</a:t>
            </a:r>
            <a:r>
              <a:rPr sz="4000" dirty="0"/>
              <a:t> </a:t>
            </a:r>
            <a:r>
              <a:rPr sz="4000" dirty="0" err="1"/>
              <a:t>процессов</a:t>
            </a:r>
            <a:r>
              <a:rPr sz="4000" dirty="0"/>
              <a:t> </a:t>
            </a:r>
            <a:r>
              <a:rPr sz="4000" dirty="0" err="1"/>
              <a:t>жизненного</a:t>
            </a:r>
            <a:r>
              <a:rPr sz="4000" dirty="0"/>
              <a:t> </a:t>
            </a:r>
            <a:r>
              <a:rPr sz="4000" dirty="0" err="1"/>
              <a:t>цикла</a:t>
            </a:r>
            <a:r>
              <a:rPr sz="4000" dirty="0"/>
              <a:t> </a:t>
            </a:r>
            <a:r>
              <a:rPr sz="4000" dirty="0" err="1"/>
              <a:t>программного</a:t>
            </a:r>
            <a:r>
              <a:rPr sz="4000" dirty="0"/>
              <a:t> </a:t>
            </a:r>
            <a:r>
              <a:rPr sz="4000" dirty="0" err="1"/>
              <a:t>обеспечения</a:t>
            </a:r>
            <a:endParaRPr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Почему</a:t>
            </a:r>
            <a:r>
              <a:rPr sz="4400" dirty="0"/>
              <a:t> </a:t>
            </a:r>
            <a:r>
              <a:rPr sz="4400" dirty="0" err="1"/>
              <a:t>нужен</a:t>
            </a:r>
            <a:r>
              <a:rPr sz="4400" dirty="0"/>
              <a:t> </a:t>
            </a:r>
            <a:r>
              <a:rPr sz="4400" dirty="0" err="1"/>
              <a:t>стандарт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640080" y="1203108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Участники</a:t>
            </a:r>
            <a:r>
              <a:rPr sz="2900" dirty="0"/>
              <a:t> </a:t>
            </a:r>
            <a:r>
              <a:rPr sz="2900" dirty="0" err="1"/>
              <a:t>проекта</a:t>
            </a:r>
            <a:r>
              <a:rPr sz="2900" dirty="0"/>
              <a:t> </a:t>
            </a:r>
            <a:r>
              <a:rPr sz="2900" dirty="0" err="1"/>
              <a:t>по-разному</a:t>
            </a:r>
            <a:r>
              <a:rPr sz="2900" dirty="0"/>
              <a:t> </a:t>
            </a:r>
            <a:r>
              <a:rPr sz="2900" dirty="0" err="1"/>
              <a:t>понимают</a:t>
            </a:r>
            <a:r>
              <a:rPr sz="2900" dirty="0"/>
              <a:t> «</a:t>
            </a:r>
            <a:r>
              <a:rPr sz="2900" dirty="0" err="1"/>
              <a:t>готово</a:t>
            </a:r>
            <a:r>
              <a:rPr sz="2900" dirty="0"/>
              <a:t>»</a:t>
            </a:r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Требования</a:t>
            </a:r>
            <a:r>
              <a:rPr sz="2900" dirty="0"/>
              <a:t>, </a:t>
            </a:r>
            <a:r>
              <a:rPr sz="2900" dirty="0" err="1"/>
              <a:t>изменения</a:t>
            </a:r>
            <a:r>
              <a:rPr sz="2900" dirty="0"/>
              <a:t> и </a:t>
            </a:r>
            <a:r>
              <a:rPr sz="2900" dirty="0" err="1"/>
              <a:t>ответственность</a:t>
            </a:r>
            <a:r>
              <a:rPr sz="2900" dirty="0"/>
              <a:t> </a:t>
            </a:r>
            <a:r>
              <a:rPr sz="2900" dirty="0" err="1"/>
              <a:t>теряются</a:t>
            </a:r>
            <a:r>
              <a:rPr sz="2900" dirty="0"/>
              <a:t> </a:t>
            </a:r>
            <a:r>
              <a:rPr sz="2900" dirty="0" err="1"/>
              <a:t>между</a:t>
            </a:r>
            <a:r>
              <a:rPr sz="2900" dirty="0"/>
              <a:t> </a:t>
            </a:r>
            <a:r>
              <a:rPr sz="2900" dirty="0" err="1"/>
              <a:t>командами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Сложно</a:t>
            </a:r>
            <a:r>
              <a:rPr sz="2900" dirty="0"/>
              <a:t> </a:t>
            </a:r>
            <a:r>
              <a:rPr sz="2900" dirty="0" err="1"/>
              <a:t>оценить</a:t>
            </a:r>
            <a:r>
              <a:rPr sz="2900" dirty="0"/>
              <a:t> </a:t>
            </a:r>
            <a:r>
              <a:rPr sz="2900" dirty="0" err="1"/>
              <a:t>качество</a:t>
            </a:r>
            <a:r>
              <a:rPr sz="2900" dirty="0"/>
              <a:t> </a:t>
            </a:r>
            <a:r>
              <a:rPr sz="2900" dirty="0" err="1"/>
              <a:t>процесса</a:t>
            </a:r>
            <a:r>
              <a:rPr sz="2900" dirty="0"/>
              <a:t> и </a:t>
            </a:r>
            <a:r>
              <a:rPr sz="2900" dirty="0" err="1"/>
              <a:t>контролировать</a:t>
            </a:r>
            <a:r>
              <a:rPr sz="2900" dirty="0"/>
              <a:t> </a:t>
            </a:r>
            <a:r>
              <a:rPr sz="2900" dirty="0" err="1"/>
              <a:t>риски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Общая</a:t>
            </a:r>
            <a:r>
              <a:rPr sz="2900" dirty="0"/>
              <a:t> </a:t>
            </a:r>
            <a:r>
              <a:rPr sz="2900" dirty="0" err="1"/>
              <a:t>терминология</a:t>
            </a:r>
            <a:r>
              <a:rPr sz="2900" dirty="0"/>
              <a:t> </a:t>
            </a:r>
            <a:r>
              <a:rPr sz="2900" dirty="0" err="1"/>
              <a:t>помогает</a:t>
            </a:r>
            <a:r>
              <a:rPr sz="2900" dirty="0"/>
              <a:t> </a:t>
            </a:r>
            <a:r>
              <a:rPr sz="2900" dirty="0" err="1"/>
              <a:t>заказчику</a:t>
            </a:r>
            <a:r>
              <a:rPr sz="2900" dirty="0"/>
              <a:t> и </a:t>
            </a:r>
            <a:r>
              <a:rPr sz="2900" dirty="0" err="1"/>
              <a:t>исполнителю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Что</a:t>
            </a:r>
            <a:r>
              <a:rPr sz="4400" dirty="0"/>
              <a:t> </a:t>
            </a:r>
            <a:r>
              <a:rPr sz="4400" dirty="0" err="1"/>
              <a:t>представляет</a:t>
            </a:r>
            <a:r>
              <a:rPr sz="4400" dirty="0"/>
              <a:t> </a:t>
            </a:r>
            <a:r>
              <a:rPr sz="4400" dirty="0" err="1"/>
              <a:t>собой</a:t>
            </a:r>
            <a:r>
              <a:rPr sz="4400" dirty="0"/>
              <a:t> ISO 12207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840" y="1116913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371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Международный</a:t>
            </a:r>
            <a:r>
              <a:rPr sz="2900" dirty="0"/>
              <a:t> </a:t>
            </a:r>
            <a:r>
              <a:rPr sz="2900" dirty="0" err="1"/>
              <a:t>стандарт</a:t>
            </a:r>
            <a:r>
              <a:rPr sz="2900" dirty="0"/>
              <a:t> </a:t>
            </a:r>
            <a:r>
              <a:rPr sz="2900" dirty="0" err="1"/>
              <a:t>процессов</a:t>
            </a:r>
            <a:r>
              <a:rPr sz="2900" dirty="0"/>
              <a:t> </a:t>
            </a:r>
            <a:r>
              <a:rPr sz="2900" dirty="0" err="1"/>
              <a:t>жизненного</a:t>
            </a:r>
            <a:r>
              <a:rPr sz="2900" dirty="0"/>
              <a:t> </a:t>
            </a:r>
            <a:r>
              <a:rPr sz="2900" dirty="0" err="1"/>
              <a:t>цикла</a:t>
            </a:r>
            <a:r>
              <a:rPr sz="2900" dirty="0"/>
              <a:t> ПО</a:t>
            </a:r>
          </a:p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Описывает</a:t>
            </a:r>
            <a:r>
              <a:rPr sz="2900" dirty="0"/>
              <a:t> </a:t>
            </a:r>
            <a:r>
              <a:rPr sz="2900" dirty="0" err="1"/>
              <a:t>процессы</a:t>
            </a:r>
            <a:r>
              <a:rPr sz="2900" dirty="0"/>
              <a:t>, </a:t>
            </a:r>
            <a:r>
              <a:rPr sz="2900" dirty="0" err="1"/>
              <a:t>цели</a:t>
            </a:r>
            <a:r>
              <a:rPr sz="2900" dirty="0"/>
              <a:t> и </a:t>
            </a:r>
            <a:r>
              <a:rPr sz="2900" dirty="0" err="1"/>
              <a:t>результаты</a:t>
            </a:r>
            <a:r>
              <a:rPr sz="2900" dirty="0"/>
              <a:t>, а </a:t>
            </a:r>
            <a:r>
              <a:rPr sz="2900" dirty="0" err="1"/>
              <a:t>не</a:t>
            </a:r>
            <a:r>
              <a:rPr sz="2900" dirty="0"/>
              <a:t> </a:t>
            </a:r>
            <a:r>
              <a:rPr sz="2900" dirty="0" err="1"/>
              <a:t>единую</a:t>
            </a:r>
            <a:r>
              <a:rPr sz="2900" dirty="0"/>
              <a:t> </a:t>
            </a:r>
            <a:r>
              <a:rPr sz="2900" dirty="0" err="1"/>
              <a:t>методологию</a:t>
            </a:r>
            <a:endParaRPr sz="2900" dirty="0"/>
          </a:p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Применим</a:t>
            </a:r>
            <a:r>
              <a:rPr sz="2900" dirty="0"/>
              <a:t> к </a:t>
            </a:r>
            <a:r>
              <a:rPr sz="2900" dirty="0" err="1"/>
              <a:t>созданию</a:t>
            </a:r>
            <a:r>
              <a:rPr sz="2900" dirty="0"/>
              <a:t>, </a:t>
            </a:r>
            <a:r>
              <a:rPr sz="2900" dirty="0" err="1"/>
              <a:t>поставке</a:t>
            </a:r>
            <a:r>
              <a:rPr sz="2900" dirty="0"/>
              <a:t>, </a:t>
            </a:r>
            <a:r>
              <a:rPr sz="2900" dirty="0" err="1"/>
              <a:t>сопровождению</a:t>
            </a:r>
            <a:r>
              <a:rPr sz="2900" dirty="0"/>
              <a:t> и </a:t>
            </a:r>
            <a:r>
              <a:rPr sz="2900" dirty="0" err="1"/>
              <a:t>выводу</a:t>
            </a:r>
            <a:r>
              <a:rPr sz="2900" dirty="0"/>
              <a:t> ПО</a:t>
            </a:r>
          </a:p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Используется</a:t>
            </a:r>
            <a:r>
              <a:rPr sz="2900" dirty="0"/>
              <a:t> </a:t>
            </a:r>
            <a:r>
              <a:rPr sz="2900" dirty="0" err="1"/>
              <a:t>для</a:t>
            </a:r>
            <a:r>
              <a:rPr sz="2900" dirty="0"/>
              <a:t> </a:t>
            </a:r>
            <a:r>
              <a:rPr sz="2900" dirty="0" err="1"/>
              <a:t>согласования</a:t>
            </a:r>
            <a:r>
              <a:rPr sz="2900" dirty="0"/>
              <a:t> </a:t>
            </a:r>
            <a:r>
              <a:rPr sz="2900" dirty="0" err="1"/>
              <a:t>работ</a:t>
            </a:r>
            <a:r>
              <a:rPr sz="2900" dirty="0"/>
              <a:t> и </a:t>
            </a:r>
            <a:r>
              <a:rPr sz="2900" dirty="0" err="1"/>
              <a:t>оценки</a:t>
            </a:r>
            <a:r>
              <a:rPr sz="2900" dirty="0"/>
              <a:t> </a:t>
            </a:r>
            <a:r>
              <a:rPr sz="2900" dirty="0" err="1"/>
              <a:t>полноты</a:t>
            </a:r>
            <a:r>
              <a:rPr sz="2900" dirty="0"/>
              <a:t> </a:t>
            </a:r>
            <a:r>
              <a:rPr sz="2900" dirty="0" err="1"/>
              <a:t>процессов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Жизненный</a:t>
            </a:r>
            <a:r>
              <a:rPr sz="4400" dirty="0"/>
              <a:t> </a:t>
            </a:r>
            <a:r>
              <a:rPr sz="4400" dirty="0" err="1"/>
              <a:t>цикл</a:t>
            </a:r>
            <a:r>
              <a:rPr sz="4400" dirty="0"/>
              <a:t> ПО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514600" cy="114300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49808" y="1847088"/>
            <a:ext cx="233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/>
              <a:t>Потребность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554480"/>
            <a:ext cx="2514600" cy="114300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3630168" y="1847088"/>
            <a:ext cx="233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/>
              <a:t>Требования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2514600" cy="114300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327646" y="1865843"/>
            <a:ext cx="2650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 dirty="0" err="1"/>
              <a:t>Проектирование</a:t>
            </a:r>
            <a:endParaRPr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9281159" y="1554480"/>
            <a:ext cx="2514600" cy="114300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9390887" y="1847088"/>
            <a:ext cx="233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/>
              <a:t>Реализация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2514600" cy="114300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49808" y="3675888"/>
            <a:ext cx="233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/>
              <a:t>Проверка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3383280"/>
            <a:ext cx="2514600" cy="114300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3630168" y="3675888"/>
            <a:ext cx="233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/>
              <a:t>Эксплуатация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383280"/>
            <a:ext cx="2514600" cy="114300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327647" y="3677243"/>
            <a:ext cx="2650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 dirty="0" err="1"/>
              <a:t>Сопровождение</a:t>
            </a:r>
            <a:endParaRPr sz="2400" dirty="0"/>
          </a:p>
        </p:txBody>
      </p:sp>
      <p:sp>
        <p:nvSpPr>
          <p:cNvPr id="18" name="Rounded Rectangle 17"/>
          <p:cNvSpPr/>
          <p:nvPr/>
        </p:nvSpPr>
        <p:spPr>
          <a:xfrm>
            <a:off x="9281159" y="3383280"/>
            <a:ext cx="2514600" cy="114300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9390887" y="3675888"/>
            <a:ext cx="233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/>
              <a:t>Вывод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Архитектура</a:t>
            </a:r>
            <a:r>
              <a:rPr sz="4400" dirty="0"/>
              <a:t> </a:t>
            </a:r>
            <a:r>
              <a:rPr sz="4400" dirty="0" err="1"/>
              <a:t>процессов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166360" cy="150876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F2F7FB"/>
                </a:solidFill>
                <a:latin typeface="Aptos"/>
              </a:defRPr>
            </a:pPr>
            <a:r>
              <a:rPr sz="2800"/>
              <a:t>Соглашения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1343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B4C5D4"/>
                </a:solidFill>
                <a:latin typeface="Aptos"/>
              </a:defRPr>
            </a:pPr>
            <a:r>
              <a:rPr sz="2800"/>
              <a:t>Заказчик ↔ поставщик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5166360" cy="150876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629400" y="169163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F2F7FB"/>
                </a:solidFill>
                <a:latin typeface="Aptos"/>
              </a:defRPr>
            </a:pPr>
            <a:r>
              <a:rPr sz="2800"/>
              <a:t>Организация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1343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B4C5D4"/>
                </a:solidFill>
                <a:latin typeface="Aptos"/>
              </a:defRPr>
            </a:pPr>
            <a:r>
              <a:rPr sz="2800"/>
              <a:t>Ресурсы и качество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83279"/>
            <a:ext cx="5166360" cy="150876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F2F7FB"/>
                </a:solidFill>
                <a:latin typeface="Aptos"/>
              </a:defRPr>
            </a:pPr>
            <a:r>
              <a:rPr sz="2800"/>
              <a:t>Управление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B4C5D4"/>
                </a:solidFill>
                <a:latin typeface="Aptos"/>
              </a:defRPr>
            </a:pPr>
            <a:r>
              <a:rPr sz="2800"/>
              <a:t>План, риск, контроль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79"/>
            <a:ext cx="5166360" cy="150876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629400" y="356616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F2F7FB"/>
                </a:solidFill>
                <a:latin typeface="Aptos"/>
              </a:defRPr>
            </a:pPr>
            <a:r>
              <a:rPr sz="2800"/>
              <a:t>Технические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18795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 b="0">
                <a:solidFill>
                  <a:srgbClr val="B4C5D4"/>
                </a:solidFill>
                <a:latin typeface="Aptos"/>
              </a:defRPr>
            </a:pPr>
            <a:r>
              <a:rPr sz="2800"/>
              <a:t>Создание и применение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Процессы</a:t>
            </a:r>
            <a:r>
              <a:rPr sz="4400" dirty="0"/>
              <a:t> </a:t>
            </a:r>
            <a:r>
              <a:rPr sz="4400" dirty="0" err="1"/>
              <a:t>соглашения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Приобретение</a:t>
            </a:r>
            <a:r>
              <a:rPr sz="2900" dirty="0"/>
              <a:t>: </a:t>
            </a:r>
            <a:r>
              <a:rPr sz="2900" dirty="0" err="1"/>
              <a:t>потребности</a:t>
            </a:r>
            <a:r>
              <a:rPr sz="2900" dirty="0"/>
              <a:t>, </a:t>
            </a:r>
            <a:r>
              <a:rPr sz="2900" dirty="0" err="1"/>
              <a:t>критерии</a:t>
            </a:r>
            <a:r>
              <a:rPr sz="2900" dirty="0"/>
              <a:t>, </a:t>
            </a:r>
            <a:r>
              <a:rPr sz="2900" dirty="0" err="1"/>
              <a:t>контроль</a:t>
            </a:r>
            <a:r>
              <a:rPr sz="2900" dirty="0"/>
              <a:t> </a:t>
            </a:r>
            <a:r>
              <a:rPr sz="2900" dirty="0" err="1"/>
              <a:t>исполнения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Поставка</a:t>
            </a:r>
            <a:r>
              <a:rPr sz="2900" dirty="0"/>
              <a:t>: </a:t>
            </a:r>
            <a:r>
              <a:rPr sz="2900" dirty="0" err="1"/>
              <a:t>обязательства</a:t>
            </a:r>
            <a:r>
              <a:rPr sz="2900" dirty="0"/>
              <a:t>, </a:t>
            </a:r>
            <a:r>
              <a:rPr sz="2900" dirty="0" err="1"/>
              <a:t>результаты</a:t>
            </a:r>
            <a:r>
              <a:rPr sz="2900" dirty="0"/>
              <a:t>, </a:t>
            </a:r>
            <a:r>
              <a:rPr sz="2900" dirty="0" err="1"/>
              <a:t>взаимодействие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Договорённости</a:t>
            </a:r>
            <a:r>
              <a:rPr sz="2900" dirty="0"/>
              <a:t> о </a:t>
            </a:r>
            <a:r>
              <a:rPr sz="2900" dirty="0" err="1"/>
              <a:t>сроках</a:t>
            </a:r>
            <a:r>
              <a:rPr sz="2900" dirty="0"/>
              <a:t>, </a:t>
            </a:r>
            <a:r>
              <a:rPr sz="2900" dirty="0" err="1"/>
              <a:t>качестве</a:t>
            </a:r>
            <a:r>
              <a:rPr sz="2900" dirty="0"/>
              <a:t> и </a:t>
            </a:r>
            <a:r>
              <a:rPr sz="2900" dirty="0" err="1"/>
              <a:t>приёмке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Пример</a:t>
            </a:r>
            <a:r>
              <a:rPr sz="2900" dirty="0"/>
              <a:t>: </a:t>
            </a:r>
            <a:r>
              <a:rPr sz="2900" dirty="0" err="1"/>
              <a:t>заказная</a:t>
            </a:r>
            <a:r>
              <a:rPr sz="2900" dirty="0"/>
              <a:t> </a:t>
            </a:r>
            <a:r>
              <a:rPr sz="2900" dirty="0" err="1"/>
              <a:t>разработка</a:t>
            </a:r>
            <a:r>
              <a:rPr sz="2900" dirty="0"/>
              <a:t> </a:t>
            </a:r>
            <a:r>
              <a:rPr sz="2900" dirty="0" err="1"/>
              <a:t>для</a:t>
            </a:r>
            <a:r>
              <a:rPr sz="2900" dirty="0"/>
              <a:t> </a:t>
            </a:r>
            <a:r>
              <a:rPr sz="2900" dirty="0" err="1"/>
              <a:t>внешнего</a:t>
            </a:r>
            <a:r>
              <a:rPr sz="2900" dirty="0"/>
              <a:t> </a:t>
            </a:r>
            <a:r>
              <a:rPr sz="2900" dirty="0" err="1"/>
              <a:t>клиента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Организационные</a:t>
            </a:r>
            <a:r>
              <a:rPr sz="4400" dirty="0"/>
              <a:t> </a:t>
            </a:r>
            <a:r>
              <a:rPr sz="4400" dirty="0" err="1"/>
              <a:t>процессы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Управление</a:t>
            </a:r>
            <a:r>
              <a:rPr sz="2900" dirty="0"/>
              <a:t> </a:t>
            </a:r>
            <a:r>
              <a:rPr sz="2900" dirty="0" err="1"/>
              <a:t>жизненным</a:t>
            </a:r>
            <a:r>
              <a:rPr sz="2900" dirty="0"/>
              <a:t> </a:t>
            </a:r>
            <a:r>
              <a:rPr sz="2900" dirty="0" err="1"/>
              <a:t>циклом</a:t>
            </a:r>
            <a:r>
              <a:rPr sz="2900" dirty="0"/>
              <a:t> и </a:t>
            </a:r>
            <a:r>
              <a:rPr sz="2900" dirty="0" err="1"/>
              <a:t>процессами</a:t>
            </a:r>
            <a:r>
              <a:rPr sz="2900" dirty="0"/>
              <a:t> </a:t>
            </a:r>
            <a:r>
              <a:rPr sz="2900" dirty="0" err="1"/>
              <a:t>организации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Инфраструктура</a:t>
            </a:r>
            <a:r>
              <a:rPr sz="2900" dirty="0"/>
              <a:t>, </a:t>
            </a:r>
            <a:r>
              <a:rPr sz="2900" dirty="0" err="1"/>
              <a:t>ресурсы</a:t>
            </a:r>
            <a:r>
              <a:rPr sz="2900" dirty="0"/>
              <a:t>, </a:t>
            </a:r>
            <a:r>
              <a:rPr sz="2900" dirty="0" err="1"/>
              <a:t>знания</a:t>
            </a:r>
            <a:r>
              <a:rPr sz="2900" dirty="0"/>
              <a:t> и </a:t>
            </a:r>
            <a:r>
              <a:rPr sz="2900" dirty="0" err="1"/>
              <a:t>компетенции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Управление</a:t>
            </a:r>
            <a:r>
              <a:rPr sz="2900" dirty="0"/>
              <a:t> </a:t>
            </a:r>
            <a:r>
              <a:rPr sz="2900" dirty="0" err="1"/>
              <a:t>качеством</a:t>
            </a:r>
            <a:r>
              <a:rPr sz="2900" dirty="0"/>
              <a:t> и </a:t>
            </a:r>
            <a:r>
              <a:rPr sz="2900" dirty="0" err="1"/>
              <a:t>портфелем</a:t>
            </a:r>
            <a:r>
              <a:rPr sz="2900" dirty="0"/>
              <a:t> </a:t>
            </a:r>
            <a:r>
              <a:rPr sz="2900" dirty="0" err="1"/>
              <a:t>проектов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Постоянное</a:t>
            </a:r>
            <a:r>
              <a:rPr sz="2900" dirty="0"/>
              <a:t> </a:t>
            </a:r>
            <a:r>
              <a:rPr sz="2900" dirty="0" err="1"/>
              <a:t>совершенствование</a:t>
            </a:r>
            <a:r>
              <a:rPr sz="2900" dirty="0"/>
              <a:t> </a:t>
            </a:r>
            <a:r>
              <a:rPr sz="2900" dirty="0" err="1"/>
              <a:t>подходов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Техническое</a:t>
            </a:r>
            <a:r>
              <a:rPr sz="4400" dirty="0"/>
              <a:t> </a:t>
            </a:r>
            <a:r>
              <a:rPr sz="4400" dirty="0" err="1"/>
              <a:t>управление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Планирование</a:t>
            </a:r>
            <a:r>
              <a:rPr sz="2900" dirty="0"/>
              <a:t> и </a:t>
            </a:r>
            <a:r>
              <a:rPr sz="2900" dirty="0" err="1"/>
              <a:t>оценка</a:t>
            </a:r>
            <a:r>
              <a:rPr sz="2900" dirty="0"/>
              <a:t> </a:t>
            </a:r>
            <a:r>
              <a:rPr sz="2900" dirty="0" err="1"/>
              <a:t>работ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Контроль</a:t>
            </a:r>
            <a:r>
              <a:rPr sz="2900" dirty="0"/>
              <a:t> </a:t>
            </a:r>
            <a:r>
              <a:rPr sz="2900" dirty="0" err="1"/>
              <a:t>исполнения</a:t>
            </a:r>
            <a:r>
              <a:rPr sz="2900" dirty="0"/>
              <a:t>, </a:t>
            </a:r>
            <a:r>
              <a:rPr sz="2900" dirty="0" err="1"/>
              <a:t>решений</a:t>
            </a:r>
            <a:r>
              <a:rPr sz="2900" dirty="0"/>
              <a:t> и </a:t>
            </a:r>
            <a:r>
              <a:rPr sz="2900" dirty="0" err="1"/>
              <a:t>рисков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Управление</a:t>
            </a:r>
            <a:r>
              <a:rPr sz="2900" dirty="0"/>
              <a:t> </a:t>
            </a:r>
            <a:r>
              <a:rPr sz="2900" dirty="0" err="1"/>
              <a:t>конфигурацией</a:t>
            </a:r>
            <a:r>
              <a:rPr sz="2900" dirty="0"/>
              <a:t> и </a:t>
            </a:r>
            <a:r>
              <a:rPr sz="2900" dirty="0" err="1"/>
              <a:t>информацией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Измерения</a:t>
            </a:r>
            <a:r>
              <a:rPr sz="2900" dirty="0"/>
              <a:t> и </a:t>
            </a:r>
            <a:r>
              <a:rPr sz="2900" dirty="0" err="1"/>
              <a:t>обеспечение</a:t>
            </a:r>
            <a:r>
              <a:rPr sz="2900" dirty="0"/>
              <a:t> </a:t>
            </a:r>
            <a:r>
              <a:rPr sz="2900" dirty="0" err="1"/>
              <a:t>качества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Технические</a:t>
            </a:r>
            <a:r>
              <a:rPr sz="4400" dirty="0"/>
              <a:t> </a:t>
            </a:r>
            <a:r>
              <a:rPr sz="4400" dirty="0" err="1"/>
              <a:t>процессы</a:t>
            </a:r>
            <a:r>
              <a:rPr sz="4400" dirty="0"/>
              <a:t>: </a:t>
            </a:r>
            <a:r>
              <a:rPr sz="4400" dirty="0" err="1"/>
              <a:t>создание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Анализ</a:t>
            </a:r>
            <a:r>
              <a:rPr sz="2900" dirty="0"/>
              <a:t> </a:t>
            </a:r>
            <a:r>
              <a:rPr sz="2900" dirty="0" err="1"/>
              <a:t>потребностей</a:t>
            </a:r>
            <a:r>
              <a:rPr sz="2900" dirty="0"/>
              <a:t> и </a:t>
            </a:r>
            <a:r>
              <a:rPr sz="2900" dirty="0" err="1"/>
              <a:t>определение</a:t>
            </a:r>
            <a:r>
              <a:rPr sz="2900" dirty="0"/>
              <a:t> </a:t>
            </a:r>
            <a:r>
              <a:rPr sz="2900" dirty="0" err="1"/>
              <a:t>требований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Архитектура</a:t>
            </a:r>
            <a:r>
              <a:rPr sz="2900" dirty="0"/>
              <a:t> и </a:t>
            </a:r>
            <a:r>
              <a:rPr sz="2900" dirty="0" err="1"/>
              <a:t>проектирование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Реализация</a:t>
            </a:r>
            <a:r>
              <a:rPr sz="2900" dirty="0"/>
              <a:t> </a:t>
            </a:r>
            <a:r>
              <a:rPr sz="2900" dirty="0" err="1"/>
              <a:t>программных</a:t>
            </a:r>
            <a:r>
              <a:rPr sz="2900" dirty="0"/>
              <a:t> </a:t>
            </a:r>
            <a:r>
              <a:rPr sz="2900" dirty="0" err="1"/>
              <a:t>элементов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Интеграция</a:t>
            </a:r>
            <a:r>
              <a:rPr sz="2900" dirty="0"/>
              <a:t> и </a:t>
            </a:r>
            <a:r>
              <a:rPr sz="2900" dirty="0" err="1"/>
              <a:t>проверка</a:t>
            </a:r>
            <a:r>
              <a:rPr sz="2900" dirty="0"/>
              <a:t> </a:t>
            </a:r>
            <a:r>
              <a:rPr sz="2900" dirty="0" err="1"/>
              <a:t>соответствия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Технические</a:t>
            </a:r>
            <a:r>
              <a:rPr sz="4400" dirty="0"/>
              <a:t> </a:t>
            </a:r>
            <a:r>
              <a:rPr sz="4400" dirty="0" err="1"/>
              <a:t>процессы</a:t>
            </a:r>
            <a:r>
              <a:rPr sz="4400" dirty="0"/>
              <a:t>: </a:t>
            </a:r>
            <a:r>
              <a:rPr sz="4400" dirty="0" err="1"/>
              <a:t>применение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Валидация</a:t>
            </a:r>
            <a:r>
              <a:rPr sz="2900" dirty="0"/>
              <a:t>: </a:t>
            </a:r>
            <a:r>
              <a:rPr sz="2900" dirty="0" err="1"/>
              <a:t>подходит</a:t>
            </a:r>
            <a:r>
              <a:rPr sz="2900" dirty="0"/>
              <a:t> </a:t>
            </a:r>
            <a:r>
              <a:rPr sz="2900" dirty="0" err="1"/>
              <a:t>ли</a:t>
            </a:r>
            <a:r>
              <a:rPr sz="2900" dirty="0"/>
              <a:t> </a:t>
            </a:r>
            <a:r>
              <a:rPr sz="2900" dirty="0" err="1"/>
              <a:t>решение</a:t>
            </a:r>
            <a:r>
              <a:rPr sz="2900" dirty="0"/>
              <a:t> </a:t>
            </a:r>
            <a:r>
              <a:rPr sz="2900" dirty="0" err="1"/>
              <a:t>реальной</a:t>
            </a:r>
            <a:r>
              <a:rPr sz="2900" dirty="0"/>
              <a:t> </a:t>
            </a:r>
            <a:r>
              <a:rPr sz="2900" dirty="0" err="1"/>
              <a:t>потребности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Передача</a:t>
            </a:r>
            <a:r>
              <a:rPr sz="2900" dirty="0"/>
              <a:t>, </a:t>
            </a:r>
            <a:r>
              <a:rPr sz="2900" dirty="0" err="1"/>
              <a:t>эксплуатация</a:t>
            </a:r>
            <a:r>
              <a:rPr sz="2900" dirty="0"/>
              <a:t> и </a:t>
            </a:r>
            <a:r>
              <a:rPr sz="2900" dirty="0" err="1"/>
              <a:t>поддержка</a:t>
            </a:r>
            <a:r>
              <a:rPr sz="2900" dirty="0"/>
              <a:t> </a:t>
            </a:r>
            <a:r>
              <a:rPr sz="2900" dirty="0" err="1"/>
              <a:t>пользователей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Сопровождение</a:t>
            </a:r>
            <a:r>
              <a:rPr sz="2900" dirty="0"/>
              <a:t>: </a:t>
            </a:r>
            <a:r>
              <a:rPr sz="2900" dirty="0" err="1"/>
              <a:t>исправления</a:t>
            </a:r>
            <a:r>
              <a:rPr sz="2900" dirty="0"/>
              <a:t>, </a:t>
            </a:r>
            <a:r>
              <a:rPr sz="2900" dirty="0" err="1"/>
              <a:t>адаптация</a:t>
            </a:r>
            <a:r>
              <a:rPr sz="2900" dirty="0"/>
              <a:t>, </a:t>
            </a:r>
            <a:r>
              <a:rPr sz="2900" dirty="0" err="1"/>
              <a:t>улучшения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Вывод</a:t>
            </a:r>
            <a:r>
              <a:rPr sz="2900" dirty="0"/>
              <a:t> </a:t>
            </a:r>
            <a:r>
              <a:rPr sz="2900" dirty="0" err="1"/>
              <a:t>из</a:t>
            </a:r>
            <a:r>
              <a:rPr sz="2900" dirty="0"/>
              <a:t> </a:t>
            </a:r>
            <a:r>
              <a:rPr sz="2900" dirty="0" err="1"/>
              <a:t>эксплуатации</a:t>
            </a:r>
            <a:r>
              <a:rPr sz="2900" dirty="0"/>
              <a:t> и </a:t>
            </a:r>
            <a:r>
              <a:rPr sz="2900" dirty="0" err="1"/>
              <a:t>работа</a:t>
            </a:r>
            <a:r>
              <a:rPr sz="2900" dirty="0"/>
              <a:t> с </a:t>
            </a:r>
            <a:r>
              <a:rPr sz="2900" dirty="0" err="1"/>
              <a:t>данными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Артефакты</a:t>
            </a:r>
            <a:r>
              <a:rPr sz="4400" dirty="0"/>
              <a:t> и </a:t>
            </a:r>
            <a:r>
              <a:rPr sz="4400" dirty="0" err="1"/>
              <a:t>прослеживаемость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514600" cy="118872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192327"/>
            <a:ext cx="233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 dirty="0" err="1"/>
              <a:t>Требование</a:t>
            </a:r>
            <a:endParaRPr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063239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400" b="1">
                <a:solidFill>
                  <a:srgbClr val="19BC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14600" cy="118872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64280" y="1991735"/>
            <a:ext cx="233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 dirty="0" err="1"/>
              <a:t>Проектное</a:t>
            </a:r>
            <a:r>
              <a:rPr sz="2400" dirty="0"/>
              <a:t> </a:t>
            </a:r>
            <a:r>
              <a:rPr sz="2400" dirty="0" err="1"/>
              <a:t>решение</a:t>
            </a:r>
            <a:endParaRPr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989320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400" b="1">
                <a:solidFill>
                  <a:srgbClr val="19BC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2514600" cy="118872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5600" y="2168051"/>
            <a:ext cx="233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 dirty="0" err="1"/>
              <a:t>Код</a:t>
            </a:r>
            <a:r>
              <a:rPr sz="2400" dirty="0"/>
              <a:t> / </a:t>
            </a:r>
            <a:r>
              <a:rPr sz="2400" dirty="0" err="1"/>
              <a:t>сборка</a:t>
            </a:r>
            <a:endParaRPr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8915400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400" b="1">
                <a:solidFill>
                  <a:srgbClr val="19BC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1828800"/>
            <a:ext cx="2514600" cy="1188720"/>
          </a:xfrm>
          <a:prstGeom prst="roundRect">
            <a:avLst/>
          </a:prstGeom>
          <a:solidFill>
            <a:srgbClr val="1D4255"/>
          </a:solidFill>
          <a:ln>
            <a:solidFill>
              <a:srgbClr val="19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98380" y="2000741"/>
            <a:ext cx="233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1">
                <a:solidFill>
                  <a:srgbClr val="F2F7FB"/>
                </a:solidFill>
                <a:latin typeface="Aptos"/>
              </a:defRPr>
            </a:pPr>
            <a:r>
              <a:rPr sz="2400" dirty="0" err="1"/>
              <a:t>Тест</a:t>
            </a:r>
            <a:r>
              <a:rPr sz="2400" dirty="0"/>
              <a:t> / </a:t>
            </a:r>
            <a:r>
              <a:rPr sz="2400" dirty="0" err="1"/>
              <a:t>результат</a:t>
            </a:r>
            <a:endParaRPr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107899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B4C5D4"/>
                </a:solidFill>
                <a:latin typeface="Aptos"/>
              </a:defRPr>
            </a:pPr>
            <a:r>
              <a:rPr sz="2900" dirty="0" err="1"/>
              <a:t>Изменение</a:t>
            </a:r>
            <a:r>
              <a:rPr sz="2900" dirty="0"/>
              <a:t> </a:t>
            </a:r>
            <a:r>
              <a:rPr sz="2900" dirty="0" err="1"/>
              <a:t>требования</a:t>
            </a:r>
            <a:r>
              <a:rPr sz="2900" dirty="0"/>
              <a:t> → </a:t>
            </a:r>
            <a:r>
              <a:rPr sz="2900" dirty="0" err="1"/>
              <a:t>анализ</a:t>
            </a:r>
            <a:r>
              <a:rPr sz="2900" dirty="0"/>
              <a:t> </a:t>
            </a:r>
            <a:r>
              <a:rPr sz="2900" dirty="0" err="1"/>
              <a:t>затронутых</a:t>
            </a:r>
            <a:r>
              <a:rPr sz="2900" dirty="0"/>
              <a:t> </a:t>
            </a:r>
            <a:r>
              <a:rPr sz="2900" dirty="0" err="1"/>
              <a:t>решений</a:t>
            </a:r>
            <a:r>
              <a:rPr sz="2900" dirty="0"/>
              <a:t>, </a:t>
            </a:r>
            <a:r>
              <a:rPr sz="2900" dirty="0" err="1"/>
              <a:t>компонентов</a:t>
            </a:r>
            <a:r>
              <a:rPr sz="2900" dirty="0"/>
              <a:t> и </a:t>
            </a:r>
            <a:r>
              <a:rPr sz="2900" dirty="0" err="1"/>
              <a:t>проверок</a:t>
            </a:r>
            <a:endParaRPr sz="2900" dirty="0"/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Адаптация</a:t>
            </a:r>
            <a:r>
              <a:rPr sz="4400" dirty="0"/>
              <a:t> </a:t>
            </a:r>
            <a:r>
              <a:rPr sz="4400" dirty="0" err="1"/>
              <a:t>стандарта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Выбор</a:t>
            </a:r>
            <a:r>
              <a:rPr sz="2900" dirty="0"/>
              <a:t> </a:t>
            </a:r>
            <a:r>
              <a:rPr sz="2900" dirty="0" err="1"/>
              <a:t>процессов</a:t>
            </a:r>
            <a:r>
              <a:rPr sz="2900" dirty="0"/>
              <a:t> </a:t>
            </a:r>
            <a:r>
              <a:rPr sz="2900" dirty="0" err="1"/>
              <a:t>зависит</a:t>
            </a:r>
            <a:r>
              <a:rPr sz="2900" dirty="0"/>
              <a:t> </a:t>
            </a:r>
            <a:r>
              <a:rPr sz="2900" dirty="0" err="1"/>
              <a:t>от</a:t>
            </a:r>
            <a:r>
              <a:rPr sz="2900" dirty="0"/>
              <a:t> </a:t>
            </a:r>
            <a:r>
              <a:rPr sz="2900" dirty="0" err="1"/>
              <a:t>масштаба</a:t>
            </a:r>
            <a:r>
              <a:rPr sz="2900" dirty="0"/>
              <a:t> и </a:t>
            </a:r>
            <a:r>
              <a:rPr sz="2900" dirty="0" err="1"/>
              <a:t>критичности</a:t>
            </a:r>
            <a:r>
              <a:rPr sz="2900" dirty="0"/>
              <a:t> </a:t>
            </a:r>
            <a:r>
              <a:rPr sz="2900" dirty="0" err="1"/>
              <a:t>проекта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Уточняются</a:t>
            </a:r>
            <a:r>
              <a:rPr sz="2900" dirty="0"/>
              <a:t> </a:t>
            </a:r>
            <a:r>
              <a:rPr sz="2900" dirty="0" err="1"/>
              <a:t>роли</a:t>
            </a:r>
            <a:r>
              <a:rPr sz="2900" dirty="0"/>
              <a:t>, </a:t>
            </a:r>
            <a:r>
              <a:rPr sz="2900" dirty="0" err="1"/>
              <a:t>результаты</a:t>
            </a:r>
            <a:r>
              <a:rPr sz="2900" dirty="0"/>
              <a:t> и </a:t>
            </a:r>
            <a:r>
              <a:rPr sz="2900" dirty="0" err="1"/>
              <a:t>способы</a:t>
            </a:r>
            <a:r>
              <a:rPr sz="2900" dirty="0"/>
              <a:t> </a:t>
            </a:r>
            <a:r>
              <a:rPr sz="2900" dirty="0" err="1"/>
              <a:t>подтверждения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Учитываются</a:t>
            </a:r>
            <a:r>
              <a:rPr sz="2900" dirty="0"/>
              <a:t> </a:t>
            </a:r>
            <a:r>
              <a:rPr sz="2900" dirty="0" err="1"/>
              <a:t>договоры</a:t>
            </a:r>
            <a:r>
              <a:rPr sz="2900" dirty="0"/>
              <a:t>, </a:t>
            </a:r>
            <a:r>
              <a:rPr sz="2900" dirty="0" err="1"/>
              <a:t>нормативные</a:t>
            </a:r>
            <a:r>
              <a:rPr sz="2900" dirty="0"/>
              <a:t> </a:t>
            </a:r>
            <a:r>
              <a:rPr sz="2900" dirty="0" err="1"/>
              <a:t>требования</a:t>
            </a:r>
            <a:r>
              <a:rPr sz="2900" dirty="0"/>
              <a:t> и </a:t>
            </a:r>
            <a:r>
              <a:rPr sz="2900" dirty="0" err="1"/>
              <a:t>риски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Не</a:t>
            </a:r>
            <a:r>
              <a:rPr sz="2900" dirty="0"/>
              <a:t> </a:t>
            </a:r>
            <a:r>
              <a:rPr sz="2900" dirty="0" err="1"/>
              <a:t>исключать</a:t>
            </a:r>
            <a:r>
              <a:rPr sz="2900" dirty="0"/>
              <a:t> </a:t>
            </a:r>
            <a:r>
              <a:rPr sz="2900" dirty="0" err="1"/>
              <a:t>необходимые</a:t>
            </a:r>
            <a:r>
              <a:rPr sz="2900" dirty="0"/>
              <a:t> </a:t>
            </a:r>
            <a:r>
              <a:rPr sz="2900" dirty="0" err="1"/>
              <a:t>результаты</a:t>
            </a:r>
            <a:r>
              <a:rPr sz="2900" dirty="0"/>
              <a:t> </a:t>
            </a:r>
            <a:r>
              <a:rPr sz="2900" dirty="0" err="1"/>
              <a:t>без</a:t>
            </a:r>
            <a:r>
              <a:rPr sz="2900" dirty="0"/>
              <a:t> </a:t>
            </a:r>
            <a:r>
              <a:rPr sz="2900" dirty="0" err="1"/>
              <a:t>анализа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Совместимость</a:t>
            </a:r>
            <a:r>
              <a:rPr sz="4400" dirty="0"/>
              <a:t> с Agile и DevOps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ISO 12207 </a:t>
            </a:r>
            <a:r>
              <a:rPr sz="2900" dirty="0" err="1"/>
              <a:t>описывает</a:t>
            </a:r>
            <a:r>
              <a:rPr sz="2900" dirty="0"/>
              <a:t> «</a:t>
            </a:r>
            <a:r>
              <a:rPr sz="2900" dirty="0" err="1"/>
              <a:t>что</a:t>
            </a:r>
            <a:r>
              <a:rPr sz="2900" dirty="0"/>
              <a:t> </a:t>
            </a:r>
            <a:r>
              <a:rPr sz="2900" dirty="0" err="1"/>
              <a:t>должно</a:t>
            </a:r>
            <a:r>
              <a:rPr sz="2900" dirty="0"/>
              <a:t> </a:t>
            </a:r>
            <a:r>
              <a:rPr sz="2900" dirty="0" err="1"/>
              <a:t>обеспечиваться</a:t>
            </a:r>
            <a:r>
              <a:rPr sz="2900" dirty="0"/>
              <a:t>»</a:t>
            </a:r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Agile </a:t>
            </a:r>
            <a:r>
              <a:rPr sz="2900" dirty="0" err="1"/>
              <a:t>помогает</a:t>
            </a:r>
            <a:r>
              <a:rPr sz="2900" dirty="0"/>
              <a:t> </a:t>
            </a:r>
            <a:r>
              <a:rPr sz="2900" dirty="0" err="1"/>
              <a:t>организовать</a:t>
            </a:r>
            <a:r>
              <a:rPr sz="2900" dirty="0"/>
              <a:t> </a:t>
            </a:r>
            <a:r>
              <a:rPr sz="2900" dirty="0" err="1"/>
              <a:t>итеративную</a:t>
            </a:r>
            <a:r>
              <a:rPr sz="2900" dirty="0"/>
              <a:t> </a:t>
            </a:r>
            <a:r>
              <a:rPr sz="2900" dirty="0" err="1"/>
              <a:t>работу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DevOps </a:t>
            </a:r>
            <a:r>
              <a:rPr sz="2900" dirty="0" err="1"/>
              <a:t>автоматизирует</a:t>
            </a:r>
            <a:r>
              <a:rPr sz="2900" dirty="0"/>
              <a:t> </a:t>
            </a:r>
            <a:r>
              <a:rPr sz="2900" dirty="0" err="1"/>
              <a:t>сборку</a:t>
            </a:r>
            <a:r>
              <a:rPr sz="2900" dirty="0"/>
              <a:t>, </a:t>
            </a:r>
            <a:r>
              <a:rPr sz="2900" dirty="0" err="1"/>
              <a:t>проверки</a:t>
            </a:r>
            <a:r>
              <a:rPr sz="2900" dirty="0"/>
              <a:t> и </a:t>
            </a:r>
            <a:r>
              <a:rPr sz="2900" dirty="0" err="1"/>
              <a:t>поставку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CI/CD, backlog и </a:t>
            </a:r>
            <a:r>
              <a:rPr sz="2900" dirty="0" err="1"/>
              <a:t>мониторинг</a:t>
            </a:r>
            <a:r>
              <a:rPr sz="2900" dirty="0"/>
              <a:t> </a:t>
            </a:r>
            <a:r>
              <a:rPr sz="2900" dirty="0" err="1"/>
              <a:t>могут</a:t>
            </a:r>
            <a:r>
              <a:rPr sz="2900" dirty="0"/>
              <a:t> </a:t>
            </a:r>
            <a:r>
              <a:rPr sz="2900" dirty="0" err="1"/>
              <a:t>служить</a:t>
            </a:r>
            <a:r>
              <a:rPr sz="2900" dirty="0"/>
              <a:t> </a:t>
            </a:r>
            <a:r>
              <a:rPr sz="2900" dirty="0" err="1"/>
              <a:t>доказательствами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Пример</a:t>
            </a:r>
            <a:r>
              <a:rPr sz="4400" dirty="0"/>
              <a:t>: </a:t>
            </a:r>
            <a:r>
              <a:rPr sz="4400" dirty="0" err="1"/>
              <a:t>сервис</a:t>
            </a:r>
            <a:r>
              <a:rPr sz="4400" dirty="0"/>
              <a:t> </a:t>
            </a:r>
            <a:r>
              <a:rPr sz="4400" dirty="0" err="1"/>
              <a:t>записи</a:t>
            </a:r>
            <a:r>
              <a:rPr sz="4400" dirty="0"/>
              <a:t> к </a:t>
            </a:r>
            <a:r>
              <a:rPr sz="4400" dirty="0" err="1"/>
              <a:t>врачу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3883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Потребность</a:t>
            </a:r>
            <a:r>
              <a:rPr sz="2900" dirty="0"/>
              <a:t>: </a:t>
            </a:r>
            <a:r>
              <a:rPr sz="2900" dirty="0" err="1"/>
              <a:t>пациент</a:t>
            </a:r>
            <a:r>
              <a:rPr sz="2900" dirty="0"/>
              <a:t> </a:t>
            </a:r>
            <a:r>
              <a:rPr sz="2900" dirty="0" err="1"/>
              <a:t>выбирает</a:t>
            </a:r>
            <a:r>
              <a:rPr sz="2900" dirty="0"/>
              <a:t> </a:t>
            </a:r>
            <a:r>
              <a:rPr sz="2900" dirty="0" err="1"/>
              <a:t>время</a:t>
            </a:r>
            <a:r>
              <a:rPr sz="2900" dirty="0"/>
              <a:t> и </a:t>
            </a:r>
            <a:r>
              <a:rPr sz="2900" dirty="0" err="1"/>
              <a:t>получает</a:t>
            </a:r>
            <a:r>
              <a:rPr sz="2900" dirty="0"/>
              <a:t> </a:t>
            </a:r>
            <a:r>
              <a:rPr sz="2900" dirty="0" err="1"/>
              <a:t>подтверждение</a:t>
            </a:r>
            <a:endParaRPr sz="2900" dirty="0"/>
          </a:p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Требования</a:t>
            </a:r>
            <a:r>
              <a:rPr sz="2900" dirty="0"/>
              <a:t>: </a:t>
            </a:r>
            <a:r>
              <a:rPr sz="2900" dirty="0" err="1"/>
              <a:t>роли</a:t>
            </a:r>
            <a:r>
              <a:rPr sz="2900" dirty="0"/>
              <a:t>, </a:t>
            </a:r>
            <a:r>
              <a:rPr sz="2900" dirty="0" err="1"/>
              <a:t>доступность</a:t>
            </a:r>
            <a:r>
              <a:rPr sz="2900" dirty="0"/>
              <a:t>, </a:t>
            </a:r>
            <a:r>
              <a:rPr sz="2900" dirty="0" err="1"/>
              <a:t>защита</a:t>
            </a:r>
            <a:r>
              <a:rPr sz="2900" dirty="0"/>
              <a:t> </a:t>
            </a:r>
            <a:r>
              <a:rPr sz="2900" dirty="0" err="1"/>
              <a:t>персональных</a:t>
            </a:r>
            <a:r>
              <a:rPr sz="2900" dirty="0"/>
              <a:t> </a:t>
            </a:r>
            <a:r>
              <a:rPr sz="2900" dirty="0" err="1"/>
              <a:t>данных</a:t>
            </a:r>
            <a:endParaRPr sz="2900" dirty="0"/>
          </a:p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Разработка</a:t>
            </a:r>
            <a:r>
              <a:rPr sz="2900" dirty="0"/>
              <a:t>: API, </a:t>
            </a:r>
            <a:r>
              <a:rPr sz="2900" dirty="0" err="1"/>
              <a:t>интерфейс</a:t>
            </a:r>
            <a:r>
              <a:rPr sz="2900" dirty="0"/>
              <a:t>, </a:t>
            </a:r>
            <a:r>
              <a:rPr sz="2900" dirty="0" err="1"/>
              <a:t>интеграция</a:t>
            </a:r>
            <a:r>
              <a:rPr sz="2900" dirty="0"/>
              <a:t> с </a:t>
            </a:r>
            <a:r>
              <a:rPr sz="2900" dirty="0" err="1"/>
              <a:t>расписанием</a:t>
            </a:r>
            <a:endParaRPr sz="2900" dirty="0"/>
          </a:p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Проверки</a:t>
            </a:r>
            <a:r>
              <a:rPr sz="2900" dirty="0"/>
              <a:t>: </a:t>
            </a:r>
            <a:r>
              <a:rPr sz="2900" dirty="0" err="1"/>
              <a:t>двойная</a:t>
            </a:r>
            <a:r>
              <a:rPr sz="2900" dirty="0"/>
              <a:t> </a:t>
            </a:r>
            <a:r>
              <a:rPr sz="2900" dirty="0" err="1"/>
              <a:t>запись</a:t>
            </a:r>
            <a:r>
              <a:rPr sz="2900" dirty="0"/>
              <a:t>, </a:t>
            </a:r>
            <a:r>
              <a:rPr sz="2900" dirty="0" err="1"/>
              <a:t>сбои</a:t>
            </a:r>
            <a:r>
              <a:rPr sz="2900" dirty="0"/>
              <a:t>, </a:t>
            </a:r>
            <a:r>
              <a:rPr sz="2900" dirty="0" err="1"/>
              <a:t>права</a:t>
            </a:r>
            <a:r>
              <a:rPr sz="2900" dirty="0"/>
              <a:t> </a:t>
            </a:r>
            <a:r>
              <a:rPr sz="2900" dirty="0" err="1"/>
              <a:t>доступа</a:t>
            </a:r>
            <a:endParaRPr sz="2900" dirty="0"/>
          </a:p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Эксплуатация</a:t>
            </a:r>
            <a:r>
              <a:rPr sz="2900" dirty="0"/>
              <a:t>: </a:t>
            </a:r>
            <a:r>
              <a:rPr sz="2900" dirty="0" err="1"/>
              <a:t>мониторинг</a:t>
            </a:r>
            <a:r>
              <a:rPr sz="2900" dirty="0"/>
              <a:t>, </a:t>
            </a:r>
            <a:r>
              <a:rPr sz="2900" dirty="0" err="1"/>
              <a:t>поддержка</a:t>
            </a:r>
            <a:r>
              <a:rPr sz="2900" dirty="0"/>
              <a:t>, </a:t>
            </a:r>
            <a:r>
              <a:rPr sz="2900" dirty="0" err="1"/>
              <a:t>обновления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Преимущества</a:t>
            </a:r>
            <a:r>
              <a:rPr sz="4400" dirty="0"/>
              <a:t> и </a:t>
            </a:r>
            <a:r>
              <a:rPr sz="4400" dirty="0" err="1"/>
              <a:t>ограничения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69848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 err="1"/>
              <a:t>Плюсы</a:t>
            </a:r>
            <a:r>
              <a:rPr sz="2900" dirty="0"/>
              <a:t>: </a:t>
            </a:r>
            <a:r>
              <a:rPr sz="2900" dirty="0" err="1"/>
              <a:t>общая</a:t>
            </a:r>
            <a:r>
              <a:rPr sz="2900" dirty="0"/>
              <a:t> </a:t>
            </a:r>
            <a:r>
              <a:rPr sz="2900" dirty="0" err="1"/>
              <a:t>терминология</a:t>
            </a:r>
            <a:r>
              <a:rPr sz="2900" dirty="0"/>
              <a:t> • </a:t>
            </a:r>
            <a:r>
              <a:rPr sz="2900" dirty="0" err="1"/>
              <a:t>прозрачность</a:t>
            </a:r>
            <a:r>
              <a:rPr sz="2900" dirty="0"/>
              <a:t> • </a:t>
            </a:r>
            <a:r>
              <a:rPr sz="2900" dirty="0" err="1"/>
              <a:t>управляемость</a:t>
            </a:r>
            <a:r>
              <a:rPr sz="2900" dirty="0"/>
              <a:t> • </a:t>
            </a:r>
            <a:r>
              <a:rPr sz="2900" dirty="0" err="1"/>
              <a:t>прослеживаемость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 err="1"/>
              <a:t>Риски</a:t>
            </a:r>
            <a:r>
              <a:rPr sz="2900" dirty="0"/>
              <a:t>: </a:t>
            </a:r>
            <a:r>
              <a:rPr sz="2900" dirty="0" err="1"/>
              <a:t>формализм</a:t>
            </a:r>
            <a:r>
              <a:rPr sz="2900" dirty="0"/>
              <a:t> • </a:t>
            </a:r>
            <a:r>
              <a:rPr sz="2900" dirty="0" err="1"/>
              <a:t>лишние</a:t>
            </a:r>
            <a:r>
              <a:rPr sz="2900" dirty="0"/>
              <a:t> </a:t>
            </a:r>
            <a:r>
              <a:rPr sz="2900" dirty="0" err="1"/>
              <a:t>документы</a:t>
            </a:r>
            <a:r>
              <a:rPr sz="2900" dirty="0"/>
              <a:t> • </a:t>
            </a:r>
            <a:r>
              <a:rPr sz="2900" dirty="0" err="1"/>
              <a:t>неверная</a:t>
            </a:r>
            <a:r>
              <a:rPr sz="2900" dirty="0"/>
              <a:t> </a:t>
            </a:r>
            <a:r>
              <a:rPr sz="2900" dirty="0" err="1"/>
              <a:t>адаптация</a:t>
            </a:r>
            <a:endParaRPr sz="2900" dirty="0"/>
          </a:p>
          <a:p>
            <a:pPr>
              <a:spcAft>
                <a:spcPts val="1300"/>
              </a:spcAft>
              <a:defRPr sz="2100" b="0">
                <a:solidFill>
                  <a:srgbClr val="F2F7FB"/>
                </a:solidFill>
                <a:latin typeface="Aptos"/>
              </a:defRPr>
            </a:pPr>
            <a:r>
              <a:rPr sz="2900" dirty="0" err="1"/>
              <a:t>Успех</a:t>
            </a:r>
            <a:r>
              <a:rPr sz="2900" dirty="0"/>
              <a:t>: </a:t>
            </a:r>
            <a:r>
              <a:rPr sz="2900" dirty="0" err="1"/>
              <a:t>процессы</a:t>
            </a:r>
            <a:r>
              <a:rPr sz="2900" dirty="0"/>
              <a:t> </a:t>
            </a:r>
            <a:r>
              <a:rPr sz="2900" dirty="0" err="1"/>
              <a:t>соразмерны</a:t>
            </a:r>
            <a:r>
              <a:rPr sz="2900" dirty="0"/>
              <a:t> </a:t>
            </a:r>
            <a:r>
              <a:rPr sz="2900" dirty="0" err="1"/>
              <a:t>рискам</a:t>
            </a:r>
            <a:r>
              <a:rPr sz="2900" dirty="0"/>
              <a:t> и </a:t>
            </a:r>
            <a:r>
              <a:rPr sz="2900" dirty="0" err="1"/>
              <a:t>дают</a:t>
            </a:r>
            <a:r>
              <a:rPr sz="2900" dirty="0"/>
              <a:t> </a:t>
            </a:r>
            <a:r>
              <a:rPr sz="2900" dirty="0" err="1"/>
              <a:t>измеримый</a:t>
            </a:r>
            <a:r>
              <a:rPr sz="2900" dirty="0"/>
              <a:t> </a:t>
            </a:r>
            <a:r>
              <a:rPr sz="2900" dirty="0" err="1"/>
              <a:t>результат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2F7FB"/>
                </a:solidFill>
                <a:latin typeface="Aptos"/>
              </a:defRPr>
            </a:pPr>
            <a:r>
              <a:rPr sz="4400" dirty="0" err="1"/>
              <a:t>Итоги</a:t>
            </a:r>
            <a:endParaRPr sz="4400" dirty="0"/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1143000" cy="64008"/>
          </a:xfrm>
          <a:prstGeom prst="rect">
            <a:avLst/>
          </a:prstGeom>
          <a:solidFill>
            <a:srgbClr val="19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2128520"/>
            <a:ext cx="10698480" cy="310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ISO/IEC/IEEE 12207 </a:t>
            </a:r>
            <a:r>
              <a:rPr sz="2900" dirty="0" err="1"/>
              <a:t>задаёт</a:t>
            </a:r>
            <a:r>
              <a:rPr sz="2900" dirty="0"/>
              <a:t> </a:t>
            </a:r>
            <a:r>
              <a:rPr sz="2900" dirty="0" err="1"/>
              <a:t>систему</a:t>
            </a:r>
            <a:r>
              <a:rPr sz="2900" dirty="0"/>
              <a:t> </a:t>
            </a:r>
            <a:r>
              <a:rPr sz="2900" dirty="0" err="1"/>
              <a:t>процессов</a:t>
            </a:r>
            <a:r>
              <a:rPr sz="2900" dirty="0"/>
              <a:t> </a:t>
            </a:r>
            <a:r>
              <a:rPr sz="2900" dirty="0" err="1"/>
              <a:t>жизненного</a:t>
            </a:r>
            <a:r>
              <a:rPr sz="2900" dirty="0"/>
              <a:t> </a:t>
            </a:r>
            <a:r>
              <a:rPr sz="2900" dirty="0" err="1"/>
              <a:t>цикла</a:t>
            </a:r>
            <a:r>
              <a:rPr sz="2900" dirty="0"/>
              <a:t> ПО</a:t>
            </a:r>
          </a:p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Охватывает</a:t>
            </a:r>
            <a:r>
              <a:rPr sz="2900" dirty="0"/>
              <a:t> </a:t>
            </a:r>
            <a:r>
              <a:rPr sz="2900" dirty="0" err="1"/>
              <a:t>соглашения</a:t>
            </a:r>
            <a:r>
              <a:rPr sz="2900" dirty="0"/>
              <a:t>, </a:t>
            </a:r>
            <a:r>
              <a:rPr sz="2900" dirty="0" err="1"/>
              <a:t>организацию</a:t>
            </a:r>
            <a:r>
              <a:rPr sz="2900" dirty="0"/>
              <a:t>, </a:t>
            </a:r>
            <a:r>
              <a:rPr sz="2900" dirty="0" err="1"/>
              <a:t>управление</a:t>
            </a:r>
            <a:r>
              <a:rPr sz="2900" dirty="0"/>
              <a:t> и </a:t>
            </a:r>
            <a:r>
              <a:rPr sz="2900" dirty="0" err="1"/>
              <a:t>техническую</a:t>
            </a:r>
            <a:r>
              <a:rPr sz="2900" dirty="0"/>
              <a:t> </a:t>
            </a:r>
            <a:r>
              <a:rPr sz="2900" dirty="0" err="1"/>
              <a:t>работу</a:t>
            </a:r>
            <a:endParaRPr sz="2900" dirty="0"/>
          </a:p>
          <a:p>
            <a:pPr>
              <a:spcAft>
                <a:spcPts val="1300"/>
              </a:spcAft>
              <a:defRPr sz="1900" b="0">
                <a:solidFill>
                  <a:srgbClr val="F2F7FB"/>
                </a:solidFill>
                <a:latin typeface="Aptos"/>
              </a:defRPr>
            </a:pPr>
            <a:r>
              <a:rPr sz="2900" dirty="0"/>
              <a:t>• </a:t>
            </a:r>
            <a:r>
              <a:rPr sz="2900" dirty="0" err="1"/>
              <a:t>Поддерживает</a:t>
            </a:r>
            <a:r>
              <a:rPr sz="2900" dirty="0"/>
              <a:t> </a:t>
            </a:r>
            <a:r>
              <a:rPr sz="2900" dirty="0" err="1"/>
              <a:t>разные</a:t>
            </a:r>
            <a:r>
              <a:rPr sz="2900" dirty="0"/>
              <a:t> </a:t>
            </a:r>
            <a:r>
              <a:rPr sz="2900" dirty="0" err="1"/>
              <a:t>модели</a:t>
            </a:r>
            <a:r>
              <a:rPr sz="2900" dirty="0"/>
              <a:t> </a:t>
            </a:r>
            <a:r>
              <a:rPr sz="2900" dirty="0" err="1"/>
              <a:t>разработки</a:t>
            </a:r>
            <a:r>
              <a:rPr sz="2900" dirty="0"/>
              <a:t> </a:t>
            </a:r>
            <a:r>
              <a:rPr sz="2900" dirty="0" err="1"/>
              <a:t>при</a:t>
            </a:r>
            <a:r>
              <a:rPr sz="2900" dirty="0"/>
              <a:t> </a:t>
            </a:r>
            <a:r>
              <a:rPr sz="2900" dirty="0" err="1"/>
              <a:t>разумной</a:t>
            </a:r>
            <a:r>
              <a:rPr sz="2900" dirty="0"/>
              <a:t> </a:t>
            </a:r>
            <a:r>
              <a:rPr sz="2900" dirty="0" err="1"/>
              <a:t>адаптации</a:t>
            </a:r>
            <a:endParaRPr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4C5D4"/>
                </a:solidFill>
                <a:latin typeface="Aptos"/>
              </a:defRPr>
            </a:pPr>
            <a:r>
              <a:t>ISO/IEC/IEEE 12207  •  Жизненный цикл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1">
                <a:solidFill>
                  <a:srgbClr val="19BCAA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656</Words>
  <Application>Microsoft Office PowerPoint</Application>
  <PresentationFormat>Широкоэкранный</PresentationFormat>
  <Paragraphs>120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Глеб Бабашинский</cp:lastModifiedBy>
  <cp:revision>2</cp:revision>
  <dcterms:created xsi:type="dcterms:W3CDTF">2013-01-27T09:14:16Z</dcterms:created>
  <dcterms:modified xsi:type="dcterms:W3CDTF">2026-10-18T11:52:49Z</dcterms:modified>
  <cp:category/>
</cp:coreProperties>
</file>